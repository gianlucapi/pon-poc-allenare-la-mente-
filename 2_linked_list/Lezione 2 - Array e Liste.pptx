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Economica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6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70F303-4E98-48DC-9458-094A6BD0C065}">
  <a:tblStyle styleId="{7270F303-4E98-48DC-9458-094A6BD0C0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62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bold.fntdata"/><Relationship Id="rId30" Type="http://schemas.openxmlformats.org/officeDocument/2006/relationships/font" Target="fonts/Economica-regular.fntdata"/><Relationship Id="rId11" Type="http://schemas.openxmlformats.org/officeDocument/2006/relationships/slide" Target="slides/slide5.xml"/><Relationship Id="rId33" Type="http://schemas.openxmlformats.org/officeDocument/2006/relationships/font" Target="fonts/Economica-boldItalic.fntdata"/><Relationship Id="rId10" Type="http://schemas.openxmlformats.org/officeDocument/2006/relationships/slide" Target="slides/slide4.xml"/><Relationship Id="rId32" Type="http://schemas.openxmlformats.org/officeDocument/2006/relationships/font" Target="fonts/Economica-italic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041e5fc3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041e5fc3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dc5c565f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dc5c565f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dc5c565f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dc5c565f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dc5c565f4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dc5c565f4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dc5c565f4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dc5c565f4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dc5c565f4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dc5c565f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09068551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09068551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090685516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090685516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090685516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090685516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090685516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09068551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090685516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090685516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090685516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090685516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090685516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090685516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90685516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90685516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090685516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090685516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90685516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090685516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090685516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090685516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090685516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090685516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090685516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090685516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090685516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090685516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090685516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090685516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90685516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90685516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Cenni di Algoritmi e Strutture Dati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Lezione 2 - Array e Liste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311700" y="4461300"/>
            <a:ext cx="85206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500"/>
              <a:t>Corso PON “Coding &amp; App” - Istituto Superiore di Istruzione “Archimede”, Treviglio </a:t>
            </a:r>
            <a:endParaRPr i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 array?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È una struttura dati statica, con una dimensione ben definita, destinata a contenere una serie di dati dello stesso tipo.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È possibile accedere ad ogni elemento di un array utilizzando un indice per definire la posizione dell’elemento stesso.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Avendo una dimensione ben definita, modificarla richiede una successione di istruzioni talvolta molto costose.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una lista?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È una struttura dati in cui tutti gli elementi sono organizzati in un ordine sequenziale.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L’ordine è determinato da una catena di puntatori. Ogni elemento (</a:t>
            </a:r>
            <a:r>
              <a:rPr b="1" lang="it"/>
              <a:t>nodo</a:t>
            </a:r>
            <a:r>
              <a:rPr lang="it"/>
              <a:t>) è un oggetto composto da un campo </a:t>
            </a:r>
            <a:r>
              <a:rPr b="1" lang="it"/>
              <a:t>dato</a:t>
            </a:r>
            <a:r>
              <a:rPr lang="it"/>
              <a:t> (che contiene l’informazione di nostro interesse) ed un campo </a:t>
            </a:r>
            <a:r>
              <a:rPr b="1" lang="it"/>
              <a:t>next </a:t>
            </a:r>
            <a:r>
              <a:rPr lang="it"/>
              <a:t>(puntatore al </a:t>
            </a:r>
            <a:r>
              <a:rPr lang="it" u="sng"/>
              <a:t>nodo successivo</a:t>
            </a:r>
            <a:r>
              <a:rPr lang="it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Lo spazio non è definito ma dinamico, ed è allocato quando necessario.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Esistono diverse tipologie di liste: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Singly Linked List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Doubly Linked List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Circular Linked List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Operazioni supportate da Array e da Liste</a:t>
            </a:r>
            <a:endParaRPr/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952500" y="122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{7270F303-4E98-48DC-9458-094A6BD0C065}</a:tableStyleId>
              </a:tblPr>
              <a:tblGrid>
                <a:gridCol w="3619500"/>
                <a:gridCol w="3619500"/>
              </a:tblGrid>
              <a:tr h="89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Array</a:t>
                      </a:r>
                      <a:endParaRPr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Liste</a:t>
                      </a:r>
                      <a:endParaRPr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89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Ricerca (chiave K)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Ricerca (chiave K)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89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Inserimento (chiave k, elemento e)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Inserimento (chiave k, elemento e)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89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Eliminazione (chiave k)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Eliminazione (chiave k)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 allora che cosa cambia?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tempo di esecuzione delle operazioni che si possono fare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981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Implementazione di un dizionario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422"/>
              <a:t>utilizzo di array</a:t>
            </a:r>
            <a:endParaRPr sz="3422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53355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Idea: utilizzare un array per collezionare una coppia [chiave, valore] e tenerla ordinata rispetto alla chiave ogni volta che si vuole aggiungere o eliminare un elemento. Ad esempio: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9" name="Google Shape;99;p19"/>
          <p:cNvGraphicFramePr/>
          <p:nvPr/>
        </p:nvGraphicFramePr>
        <p:xfrm>
          <a:off x="2311950" y="269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{7270F303-4E98-48DC-9458-094A6BD0C065}</a:tableStyleId>
              </a:tblPr>
              <a:tblGrid>
                <a:gridCol w="2191725"/>
                <a:gridCol w="2191725"/>
              </a:tblGrid>
              <a:tr h="50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2000"/>
                        <a:t>Chiave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2000"/>
                        <a:t>Valore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50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Alan Turing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23/06/1912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Claude Shannon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30/03/1916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Edsger Dijkstra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11/05/1930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981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Implementazione del metodo </a:t>
            </a:r>
            <a:r>
              <a:rPr b="1" lang="it"/>
              <a:t>ricerca </a:t>
            </a:r>
            <a:r>
              <a:rPr lang="it"/>
              <a:t>in</a:t>
            </a:r>
            <a:r>
              <a:rPr lang="it"/>
              <a:t> un dizionario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422"/>
              <a:t>utilizzo di array ordinato</a:t>
            </a:r>
            <a:endParaRPr sz="3422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53355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Applicazione della ricerca dicotomica della chiave k in un array ordinato: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Ispezionare l’elemento k’, elemento centrale dell’array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Se k’ = NULL (array vuoto), allora l’elemento non è stato trovato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Se k = k’, allora l’elemento è stato trovato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Se k &lt; k’, ripeti dal punto 1 sulla prima metà dell’array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Se k &gt; k’, ripeti dal punto 1 sulla seconda metà dell’array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Tempo di esecuzione: </a:t>
            </a:r>
            <a:r>
              <a:rPr b="1" lang="it"/>
              <a:t>O(log n)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11193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Implementazione del metodo </a:t>
            </a:r>
            <a:r>
              <a:rPr b="1" lang="it"/>
              <a:t>inserimento</a:t>
            </a:r>
            <a:r>
              <a:rPr b="1" lang="it"/>
              <a:t> </a:t>
            </a:r>
            <a:r>
              <a:rPr lang="it"/>
              <a:t>in un dizionario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422"/>
              <a:t>utilizzo di array ordinato</a:t>
            </a:r>
            <a:endParaRPr sz="3422"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6066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Applicazione serie di passaggi: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Ricerca dicotomica della </a:t>
            </a:r>
            <a:r>
              <a:rPr b="1" lang="it"/>
              <a:t>posizione </a:t>
            </a:r>
            <a:r>
              <a:rPr lang="it"/>
              <a:t>in cui inserire la chiave k -&gt; </a:t>
            </a:r>
            <a:r>
              <a:rPr b="1" lang="it"/>
              <a:t>O(log n)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Shift verso destra di una posizione di tutti gli elementi &gt; k -&gt; </a:t>
            </a:r>
            <a:r>
              <a:rPr b="1" lang="it"/>
              <a:t>O(n)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Inserimento della coppia (chiave =&gt; valore) nella posizione -&gt; </a:t>
            </a:r>
            <a:r>
              <a:rPr b="1" lang="it"/>
              <a:t>O(1)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Tempo di esecuzione: </a:t>
            </a:r>
            <a:r>
              <a:rPr b="1" lang="it"/>
              <a:t>O(log n) + O(n) + O(1) = O(n)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11193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Implementazione del metodo </a:t>
            </a:r>
            <a:r>
              <a:rPr b="1" lang="it"/>
              <a:t>eliminazione</a:t>
            </a:r>
            <a:r>
              <a:rPr b="1" lang="it"/>
              <a:t> </a:t>
            </a:r>
            <a:r>
              <a:rPr lang="it"/>
              <a:t>in un dizionario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422"/>
              <a:t>utilizzo di array ordinato</a:t>
            </a:r>
            <a:endParaRPr sz="3422"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6066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Applicazione serie di passaggi: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Ricerca dicotomica della </a:t>
            </a:r>
            <a:r>
              <a:rPr b="1" lang="it"/>
              <a:t>posizione </a:t>
            </a:r>
            <a:r>
              <a:rPr lang="it"/>
              <a:t>in cui inserire la chiave k -&gt; </a:t>
            </a:r>
            <a:r>
              <a:rPr b="1" lang="it"/>
              <a:t>O(log n)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Shift verso sinistra di una posizione di tutti gli elementi &gt; k -&gt; </a:t>
            </a:r>
            <a:r>
              <a:rPr b="1" lang="it"/>
              <a:t>O(n)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N.B.</a:t>
            </a:r>
            <a:r>
              <a:rPr lang="it"/>
              <a:t> per l’eliminazione non è necessario cancellare effettivamente l’informazione, basta sovrascrivere il dato in posizione i il successivo i+1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Tempo di esecuzione: </a:t>
            </a:r>
            <a:r>
              <a:rPr b="1" lang="it"/>
              <a:t>O(log n) + O(n) = O(n)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981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Implementazione del metodo </a:t>
            </a:r>
            <a:r>
              <a:rPr b="1" lang="it"/>
              <a:t>ricerca </a:t>
            </a:r>
            <a:r>
              <a:rPr lang="it"/>
              <a:t>in un dizionario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422"/>
              <a:t>utilizzo di linked list</a:t>
            </a:r>
            <a:endParaRPr sz="3422"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53355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Applicazione della ricerca dicotomica della chiave k in una singly linked list </a:t>
            </a:r>
            <a:r>
              <a:rPr b="1" lang="it"/>
              <a:t>non</a:t>
            </a:r>
            <a:r>
              <a:rPr lang="it"/>
              <a:t> ordinata</a:t>
            </a:r>
            <a:r>
              <a:rPr lang="it"/>
              <a:t>: devo scorrere tutta la lista dall’inizio alla fine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Tempo di esecuzione: </a:t>
            </a:r>
            <a:r>
              <a:rPr b="1" lang="it"/>
              <a:t>O(n)</a:t>
            </a:r>
            <a:endParaRPr b="1"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475" y="2638600"/>
            <a:ext cx="649605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264950"/>
            <a:ext cx="8520600" cy="171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Implementazione del metodo </a:t>
            </a:r>
            <a:r>
              <a:rPr b="1" lang="it"/>
              <a:t>inserimento </a:t>
            </a:r>
            <a:r>
              <a:rPr lang="it"/>
              <a:t>in un dizionario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422"/>
              <a:t>utilizzo di linked list</a:t>
            </a:r>
            <a:endParaRPr sz="3422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57275" y="2023825"/>
            <a:ext cx="8520600" cy="28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Inserimento della nuova coppia ( k =&gt; v ) in testa alla lista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Tempo di esecuzione: </a:t>
            </a:r>
            <a:r>
              <a:rPr b="1" lang="it"/>
              <a:t>O(1)</a:t>
            </a:r>
            <a:endParaRPr b="1"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5823" y="2594925"/>
            <a:ext cx="5541649" cy="15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264950"/>
            <a:ext cx="8520600" cy="171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Implementazione del metodo </a:t>
            </a:r>
            <a:r>
              <a:rPr b="1" lang="it"/>
              <a:t>eliminazione</a:t>
            </a:r>
            <a:r>
              <a:rPr b="1" lang="it"/>
              <a:t> </a:t>
            </a:r>
            <a:r>
              <a:rPr lang="it"/>
              <a:t>in un dizionario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422"/>
              <a:t>utilizzo di linked list</a:t>
            </a:r>
            <a:endParaRPr sz="3422"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57275" y="2023825"/>
            <a:ext cx="8520600" cy="28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Inserimento della nuova coppia (chiave, valore) in testa alla lista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Tempo di esecuzione: </a:t>
            </a:r>
            <a:r>
              <a:rPr b="1" lang="it"/>
              <a:t>O(n) + O(1) = O(n)</a:t>
            </a:r>
            <a:endParaRPr b="1"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438" y="2578075"/>
            <a:ext cx="7001125" cy="17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13" y="351700"/>
            <a:ext cx="8520600" cy="8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Conclusioni</a:t>
            </a:r>
            <a:endParaRPr b="1" sz="3422"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724" y="1544525"/>
            <a:ext cx="6492599" cy="13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1325725" y="3347600"/>
            <a:ext cx="649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Open Sans"/>
                <a:ea typeface="Open Sans"/>
                <a:cs typeface="Open Sans"/>
                <a:sym typeface="Open Sans"/>
              </a:rPr>
              <a:t>In aggiunta: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it">
                <a:latin typeface="Open Sans"/>
                <a:ea typeface="Open Sans"/>
                <a:cs typeface="Open Sans"/>
                <a:sym typeface="Open Sans"/>
              </a:rPr>
              <a:t>Le linked list sono dinamiche, possono essere ridimensionate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it">
                <a:latin typeface="Open Sans"/>
                <a:ea typeface="Open Sans"/>
                <a:cs typeface="Open Sans"/>
                <a:sym typeface="Open Sans"/>
              </a:rPr>
              <a:t>Gli array hanno una grandezza limitata, scelta in fase di dichiarazione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Linked List nel dettaglio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Ogni </a:t>
            </a:r>
            <a:r>
              <a:rPr b="1" lang="it" sz="1400"/>
              <a:t>nodo x </a:t>
            </a:r>
            <a:r>
              <a:rPr lang="it" sz="1400"/>
              <a:t>di una Singly Linked List contiene </a:t>
            </a:r>
            <a:r>
              <a:rPr b="1" lang="it" sz="1400"/>
              <a:t>almeno due campi</a:t>
            </a:r>
            <a:r>
              <a:rPr lang="it" sz="1400"/>
              <a:t>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x.key </a:t>
            </a:r>
            <a:r>
              <a:rPr lang="it" sz="1400"/>
              <a:t>→ una chiave </a:t>
            </a:r>
            <a:r>
              <a:rPr lang="it" sz="1400" u="sng"/>
              <a:t>non necessariamente univoca</a:t>
            </a:r>
            <a:endParaRPr sz="1400" u="sng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x.next</a:t>
            </a:r>
            <a:r>
              <a:rPr lang="it" sz="1400"/>
              <a:t> → un puntatore al successivo nodo nella lista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400"/>
              <a:t>Se: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x.next = NULL </a:t>
            </a:r>
            <a:r>
              <a:rPr lang="it" sz="1400"/>
              <a:t>allora x è l’ultimo nodo della lista</a:t>
            </a:r>
            <a:endParaRPr sz="1400"/>
          </a:p>
        </p:txBody>
      </p:sp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Singly Linked List </a:t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588" y="3197650"/>
            <a:ext cx="7174826" cy="15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Ogni </a:t>
            </a:r>
            <a:r>
              <a:rPr b="1" lang="it" sz="1400"/>
              <a:t>nodo x </a:t>
            </a:r>
            <a:r>
              <a:rPr lang="it" sz="1400"/>
              <a:t>di una Doubly Linked List contiene </a:t>
            </a:r>
            <a:r>
              <a:rPr b="1" lang="it" sz="1400"/>
              <a:t>almeno tre campi</a:t>
            </a:r>
            <a:r>
              <a:rPr lang="it" sz="1400"/>
              <a:t>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x.key </a:t>
            </a:r>
            <a:r>
              <a:rPr lang="it" sz="1400"/>
              <a:t>→ una chiave </a:t>
            </a:r>
            <a:r>
              <a:rPr lang="it" sz="1400" u="sng"/>
              <a:t>non necessariamente univoca</a:t>
            </a:r>
            <a:endParaRPr sz="1400" u="sng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x.next</a:t>
            </a:r>
            <a:r>
              <a:rPr lang="it" sz="1400"/>
              <a:t> → un puntatore al successivo nodo nella lista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x.prev</a:t>
            </a:r>
            <a:r>
              <a:rPr lang="it" sz="1400"/>
              <a:t> → un puntatore al precedente nodo nella lista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400"/>
              <a:t>Se: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x.next = NULL </a:t>
            </a:r>
            <a:r>
              <a:rPr lang="it" sz="1400"/>
              <a:t>allora x è l’ultimo nodo della lista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x.prev = NULL </a:t>
            </a:r>
            <a:r>
              <a:rPr lang="it" sz="1400"/>
              <a:t>allora x è il primo nodo della lista</a:t>
            </a:r>
            <a:endParaRPr sz="1400"/>
          </a:p>
        </p:txBody>
      </p:sp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Doubly</a:t>
            </a:r>
            <a:r>
              <a:rPr lang="it"/>
              <a:t> Linked List </a:t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250" y="3668400"/>
            <a:ext cx="5537649" cy="12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È una Doubly Linked List in cui 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x.key </a:t>
            </a:r>
            <a:r>
              <a:rPr lang="it" sz="1400"/>
              <a:t>→ una chiave </a:t>
            </a:r>
            <a:r>
              <a:rPr lang="it" sz="1400" u="sng"/>
              <a:t>non necessariamente univoca</a:t>
            </a:r>
            <a:endParaRPr sz="1400" u="sng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x.next</a:t>
            </a:r>
            <a:r>
              <a:rPr lang="it" sz="1400"/>
              <a:t> dell’ultimo nodo della lista punta al primo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it" sz="1400"/>
              <a:t>x.prev</a:t>
            </a:r>
            <a:r>
              <a:rPr lang="it" sz="1400"/>
              <a:t> </a:t>
            </a:r>
            <a:r>
              <a:rPr lang="it" sz="1400"/>
              <a:t>del primo nodo della lista punta all’ultimo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Circular</a:t>
            </a:r>
            <a:r>
              <a:rPr lang="it"/>
              <a:t> Linked List </a:t>
            </a: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00" y="2745900"/>
            <a:ext cx="7434399" cy="170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Ricerca</a:t>
            </a:r>
            <a:r>
              <a:rPr lang="it"/>
              <a:t> in una Circular Linked List</a:t>
            </a:r>
            <a:endParaRPr/>
          </a:p>
        </p:txBody>
      </p:sp>
      <p:pic>
        <p:nvPicPr>
          <p:cNvPr id="177" name="Google Shape;1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525" y="1284875"/>
            <a:ext cx="5846957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Inserimento in una Circular Linked List</a:t>
            </a:r>
            <a:endParaRPr/>
          </a:p>
        </p:txBody>
      </p:sp>
      <p:pic>
        <p:nvPicPr>
          <p:cNvPr id="183" name="Google Shape;18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575" y="1147225"/>
            <a:ext cx="5459123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1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Scrivere un algoritmo che, dato in input un intero positivo k ed una Singly Linked List, restituisca il k-esimo ultimo elemento della lista senza scorrere più di una volta la lista (alta efficienza)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2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Scrivere un algoritmo ricorsivo che, dato in input una Singly Linked List, rimuova tutti gli elementi con chiave pari.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Esempio, se L = [4, 6, 7, 3, 2, 5] → L = [7, 3, 5]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3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Scrivere un algoritmo ricorsivo che, dato in input una Singly Linked List, inverta la lista L e restituisca il puntatore alla nuova testa della lista.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Esempio, se L = [1, 2, 3, 4] → L = [4, 3, 2, 1]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