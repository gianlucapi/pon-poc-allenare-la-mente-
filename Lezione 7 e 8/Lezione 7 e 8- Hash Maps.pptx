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Economica"/>
      <p:regular r:id="rId48"/>
      <p:bold r:id="rId49"/>
      <p:italic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62">
          <p15:clr>
            <a:srgbClr val="A4A3A4"/>
          </p15:clr>
        </p15:guide>
        <p15:guide id="2" pos="2880">
          <p15:clr>
            <a:srgbClr val="A4A3A4"/>
          </p15:clr>
        </p15:guide>
      </p15:sldGuideLst>
    </p:ext>
    <p:ext uri="GoogleSlidesCustomDataVersion2">
      <go:slidesCustomData xmlns:go="http://customooxmlschemas.google.com/" r:id="rId56" roundtripDataSignature="AMtx7mhRAmH/6F3FT3JOEkEvmS4b/3so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62"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Economica-regular.fntdata"/><Relationship Id="rId47" Type="http://schemas.openxmlformats.org/officeDocument/2006/relationships/slide" Target="slides/slide42.xml"/><Relationship Id="rId49" Type="http://schemas.openxmlformats.org/officeDocument/2006/relationships/font" Target="fonts/Economic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Economica-boldItalic.fntdata"/><Relationship Id="rId50" Type="http://schemas.openxmlformats.org/officeDocument/2006/relationships/font" Target="fonts/Economica-italic.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6.xml"/><Relationship Id="rId55" Type="http://schemas.openxmlformats.org/officeDocument/2006/relationships/font" Target="fonts/OpenSans-boldItalic.fntdata"/><Relationship Id="rId10" Type="http://schemas.openxmlformats.org/officeDocument/2006/relationships/slide" Target="slides/slide5.xml"/><Relationship Id="rId54"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26205aaf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26205aaf1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26205aaf1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26205aaf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26205aaf1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26205aaf1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26205aaf1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26205aaf1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26205aaf1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26205aaf1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26205aaf1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26205aaf1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26865f75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26865f759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26205aaf1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26205aaf1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26865f759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26865f759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26865f759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26865f759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26865f759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26865f759b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26865f759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26865f759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26205aaf1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226205aaf16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26205aaf1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26205aaf1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26205aaf1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26205aaf16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26865f759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226865f759b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26865f759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226865f759b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26865f759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226865f759b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26865f759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26865f759b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26865f759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26865f759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26865f759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26865f759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26865f759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26865f759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29b5aeec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29b5aeec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29b5aeecb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29b5aeecb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29b5aeecb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29b5aeecb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29b5aeecb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29b5aeecb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29b5aeecb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29b5aeecb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29b5aeecb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29b5aeecb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29dae4a1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229dae4a1b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29dae4a1b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29dae4a1b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29dae4a1b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29dae4a1b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29dae4a1b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29dae4a1b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29dae4a1b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29dae4a1b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29dae4a1b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29dae4a1b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29dae4a1b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29dae4a1b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29dae4a1b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229dae4a1b9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29dae4a1b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29dae4a1b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29dae4a1b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229dae4a1b9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29dae4a1b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229dae4a1b9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29dae4a1b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29dae4a1b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5"/>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5"/>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5"/>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25"/>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2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 name="Shape 20"/>
        <p:cNvGrpSpPr/>
        <p:nvPr/>
      </p:nvGrpSpPr>
      <p:grpSpPr>
        <a:xfrm>
          <a:off x="0" y="0"/>
          <a:ext cx="0" cy="0"/>
          <a:chOff x="0" y="0"/>
          <a:chExt cx="0" cy="0"/>
        </a:xfrm>
      </p:grpSpPr>
      <p:sp>
        <p:nvSpPr>
          <p:cNvPr id="21" name="Google Shape;21;p3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1"/>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3" name="Google Shape;23;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27"/>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6" name="Google Shape;26;p27"/>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7" name="Google Shape;27;p27"/>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8" name="Google Shape;2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2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1" name="Google Shape;31;p28"/>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28"/>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6" name="Google Shape;36;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 name="Google Shape;39;p30"/>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0" name="Google Shape;4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32"/>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p32"/>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32"/>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45" name="Google Shape;45;p32"/>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3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33"/>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3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34"/>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2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it"/>
              <a:t>Cenni di Algoritmi e Strutture Dati</a:t>
            </a:r>
            <a:endParaRPr/>
          </a:p>
        </p:txBody>
      </p:sp>
      <p:sp>
        <p:nvSpPr>
          <p:cNvPr id="63" name="Google Shape;63;p1"/>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it"/>
              <a:t>Lezione 7 - Hash Maps</a:t>
            </a:r>
            <a:endParaRPr/>
          </a:p>
        </p:txBody>
      </p:sp>
      <p:sp>
        <p:nvSpPr>
          <p:cNvPr id="64" name="Google Shape;64;p1"/>
          <p:cNvSpPr txBox="1"/>
          <p:nvPr>
            <p:ph idx="1" type="subTitle"/>
          </p:nvPr>
        </p:nvSpPr>
        <p:spPr>
          <a:xfrm>
            <a:off x="311700" y="4461300"/>
            <a:ext cx="8520600" cy="4638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i="1" lang="it" sz="1500"/>
              <a:t>Corso PON “Coding &amp; App” - Istituto Superiore di Istruzione “Archimede”, Treviglio </a:t>
            </a:r>
            <a:endParaRPr i="1"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it"/>
              <a:t>Cos’è una Mappa (Hash Map)?</a:t>
            </a:r>
            <a:endParaRPr/>
          </a:p>
        </p:txBody>
      </p:sp>
      <p:sp>
        <p:nvSpPr>
          <p:cNvPr id="70" name="Google Shape;70;p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it" sz="2200"/>
              <a:t>È una struttura dati </a:t>
            </a:r>
            <a:r>
              <a:rPr b="1" lang="it" sz="2200"/>
              <a:t>non lineare</a:t>
            </a:r>
            <a:r>
              <a:rPr lang="it" sz="2200"/>
              <a:t> che associa ad una chiave un singolo valore. </a:t>
            </a:r>
            <a:endParaRPr sz="2200"/>
          </a:p>
          <a:p>
            <a:pPr indent="0" lvl="0" marL="0" rtl="0" algn="l">
              <a:lnSpc>
                <a:spcPct val="115000"/>
              </a:lnSpc>
              <a:spcBef>
                <a:spcPts val="0"/>
              </a:spcBef>
              <a:spcAft>
                <a:spcPts val="0"/>
              </a:spcAft>
              <a:buSzPts val="1946"/>
              <a:buNone/>
            </a:pPr>
            <a:r>
              <a:rPr lang="it" sz="2200"/>
              <a:t>È la struttura dati perfetta per realizzare un dizionario (caso base da cui siamo partiti). </a:t>
            </a:r>
            <a:endParaRPr sz="2200"/>
          </a:p>
          <a:p>
            <a:pPr indent="0" lvl="0" marL="0" rtl="0" algn="l">
              <a:lnSpc>
                <a:spcPct val="115000"/>
              </a:lnSpc>
              <a:spcBef>
                <a:spcPts val="0"/>
              </a:spcBef>
              <a:spcAft>
                <a:spcPts val="0"/>
              </a:spcAft>
              <a:buSzPts val="1946"/>
              <a:buNone/>
            </a:pPr>
            <a:r>
              <a:rPr lang="it" sz="2200"/>
              <a:t>Spoiler: i worst-case </a:t>
            </a:r>
            <a:r>
              <a:rPr lang="it" sz="2200"/>
              <a:t>scenarios</a:t>
            </a:r>
            <a:r>
              <a:rPr lang="it" sz="2200"/>
              <a:t> di RICERCA, INSERIMENTO E CANCELLAZIONE sono lineare, </a:t>
            </a:r>
            <a:r>
              <a:rPr b="1" lang="it" sz="2200"/>
              <a:t>tuttavia</a:t>
            </a:r>
            <a:r>
              <a:rPr lang="it" sz="2200"/>
              <a:t>, sotto assunzioni probabilistiche favorevoli, le tre operazioni presentano un costo medio di O(1)</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226205aaf16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it"/>
              <a:t>Nozioni preliminari</a:t>
            </a:r>
            <a:endParaRPr/>
          </a:p>
        </p:txBody>
      </p:sp>
      <p:sp>
        <p:nvSpPr>
          <p:cNvPr id="76" name="Google Shape;76;g226205aaf16_0_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it" sz="2200"/>
              <a:t>Definiamo:</a:t>
            </a:r>
            <a:endParaRPr sz="2200"/>
          </a:p>
          <a:p>
            <a:pPr indent="-368300" lvl="0" marL="457200" rtl="0" algn="l">
              <a:lnSpc>
                <a:spcPct val="115000"/>
              </a:lnSpc>
              <a:spcBef>
                <a:spcPts val="0"/>
              </a:spcBef>
              <a:spcAft>
                <a:spcPts val="0"/>
              </a:spcAft>
              <a:buSzPts val="2200"/>
              <a:buChar char="-"/>
            </a:pPr>
            <a:r>
              <a:rPr b="1" lang="it" sz="2200"/>
              <a:t>U</a:t>
            </a:r>
            <a:r>
              <a:rPr lang="it" sz="2200"/>
              <a:t> = l’universo di tutte le possibili chiavi </a:t>
            </a:r>
            <a:endParaRPr sz="2200"/>
          </a:p>
          <a:p>
            <a:pPr indent="-368300" lvl="0" marL="457200" rtl="0" algn="l">
              <a:lnSpc>
                <a:spcPct val="115000"/>
              </a:lnSpc>
              <a:spcBef>
                <a:spcPts val="0"/>
              </a:spcBef>
              <a:spcAft>
                <a:spcPts val="0"/>
              </a:spcAft>
              <a:buSzPts val="2200"/>
              <a:buChar char="-"/>
            </a:pPr>
            <a:r>
              <a:rPr b="1" lang="it" sz="2200"/>
              <a:t>K</a:t>
            </a:r>
            <a:r>
              <a:rPr lang="it" sz="2200"/>
              <a:t> = l’insieme delle chiavi utilizzate</a:t>
            </a:r>
            <a:endParaRPr sz="2200"/>
          </a:p>
          <a:p>
            <a:pPr indent="0" lvl="0" marL="914400" rtl="0" algn="l">
              <a:lnSpc>
                <a:spcPct val="115000"/>
              </a:lnSpc>
              <a:spcBef>
                <a:spcPts val="0"/>
              </a:spcBef>
              <a:spcAft>
                <a:spcPts val="0"/>
              </a:spcAft>
              <a:buNone/>
            </a:pPr>
            <a:r>
              <a:rPr b="1" lang="it" sz="2200"/>
              <a:t>n.b.</a:t>
            </a:r>
            <a:r>
              <a:rPr lang="it" sz="2200"/>
              <a:t> un array di dimensione U richiederebbe troppa memoria se U è molto grande, soprattutto considerando che K è molto più piccolo di U.</a:t>
            </a:r>
            <a:endParaRPr sz="2200"/>
          </a:p>
          <a:p>
            <a:pPr indent="0" lvl="0" marL="0" rtl="0" algn="l">
              <a:lnSpc>
                <a:spcPct val="115000"/>
              </a:lnSpc>
              <a:spcBef>
                <a:spcPts val="0"/>
              </a:spcBef>
              <a:spcAft>
                <a:spcPts val="0"/>
              </a:spcAft>
              <a:buNone/>
            </a:pPr>
            <a:r>
              <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226205aaf16_0_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Hash Table</a:t>
            </a:r>
            <a:endParaRPr b="1"/>
          </a:p>
        </p:txBody>
      </p:sp>
      <p:sp>
        <p:nvSpPr>
          <p:cNvPr id="82" name="Google Shape;82;g226205aaf16_0_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Utilizzando:</a:t>
            </a:r>
            <a:endParaRPr/>
          </a:p>
          <a:p>
            <a:pPr indent="-342900" lvl="0" marL="457200" rtl="0" algn="l">
              <a:spcBef>
                <a:spcPts val="0"/>
              </a:spcBef>
              <a:spcAft>
                <a:spcPts val="0"/>
              </a:spcAft>
              <a:buSzPts val="1800"/>
              <a:buAutoNum type="arabicParenR"/>
            </a:pPr>
            <a:r>
              <a:rPr lang="it"/>
              <a:t>un array A [0, … , m-1] di dimensione esattamente m (in gergo, Teta(|K|) )</a:t>
            </a:r>
            <a:endParaRPr/>
          </a:p>
          <a:p>
            <a:pPr indent="-342900" lvl="0" marL="457200" rtl="0" algn="l">
              <a:spcBef>
                <a:spcPts val="0"/>
              </a:spcBef>
              <a:spcAft>
                <a:spcPts val="0"/>
              </a:spcAft>
              <a:buSzPts val="1800"/>
              <a:buAutoNum type="arabicParenR"/>
            </a:pPr>
            <a:r>
              <a:rPr lang="it"/>
              <a:t>una </a:t>
            </a:r>
            <a:r>
              <a:rPr b="1" lang="it"/>
              <a:t>funzione di hashing</a:t>
            </a:r>
            <a:r>
              <a:rPr lang="it"/>
              <a:t> h</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è possibile andare a trovare una corrispondenza tra una chiave K con un elemento i salvato in memoria.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226205aaf16_0_1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Funzione di hashing</a:t>
            </a:r>
            <a:endParaRPr b="1"/>
          </a:p>
        </p:txBody>
      </p:sp>
      <p:sp>
        <p:nvSpPr>
          <p:cNvPr id="88" name="Google Shape;88;g226205aaf16_0_1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È una funzione matematica che associa ogni elemento dell’array ad una chiave dell’insieme </a:t>
            </a:r>
            <a:r>
              <a:rPr b="1" lang="it"/>
              <a:t>U</a:t>
            </a:r>
            <a:endParaRPr b="1"/>
          </a:p>
          <a:p>
            <a:pPr indent="0" lvl="0" marL="0" rtl="0" algn="l">
              <a:spcBef>
                <a:spcPts val="0"/>
              </a:spcBef>
              <a:spcAft>
                <a:spcPts val="0"/>
              </a:spcAft>
              <a:buNone/>
            </a:pPr>
            <a:r>
              <a:rPr b="1" lang="it"/>
              <a:t>Matematicamente:</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it"/>
              <a:t>Diciamo quindi che:</a:t>
            </a:r>
            <a:endParaRPr/>
          </a:p>
          <a:p>
            <a:pPr indent="-342900" lvl="0" marL="457200" rtl="0" algn="l">
              <a:spcBef>
                <a:spcPts val="0"/>
              </a:spcBef>
              <a:spcAft>
                <a:spcPts val="0"/>
              </a:spcAft>
              <a:buSzPts val="1800"/>
              <a:buChar char="-"/>
            </a:pPr>
            <a:r>
              <a:rPr lang="it"/>
              <a:t>h(k) è il </a:t>
            </a:r>
            <a:r>
              <a:rPr b="1" lang="it"/>
              <a:t>valore hash</a:t>
            </a:r>
            <a:r>
              <a:rPr lang="it"/>
              <a:t> della chiave k</a:t>
            </a:r>
            <a:endParaRPr/>
          </a:p>
          <a:p>
            <a:pPr indent="-342900" lvl="0" marL="457200" rtl="0" algn="l">
              <a:spcBef>
                <a:spcPts val="0"/>
              </a:spcBef>
              <a:spcAft>
                <a:spcPts val="0"/>
              </a:spcAft>
              <a:buSzPts val="1800"/>
              <a:buChar char="-"/>
            </a:pPr>
            <a:r>
              <a:rPr lang="it"/>
              <a:t>la funzione h trasforma una chiave k in un indice dell’array A</a:t>
            </a:r>
            <a:endParaRPr/>
          </a:p>
          <a:p>
            <a:pPr indent="-342900" lvl="0" marL="457200" rtl="0" algn="l">
              <a:spcBef>
                <a:spcPts val="0"/>
              </a:spcBef>
              <a:spcAft>
                <a:spcPts val="0"/>
              </a:spcAft>
              <a:buSzPts val="1800"/>
              <a:buChar char="-"/>
            </a:pPr>
            <a:r>
              <a:rPr lang="it"/>
              <a:t>la chiave k è mappata nello slot A[h(k)]</a:t>
            </a:r>
            <a:endParaRPr/>
          </a:p>
          <a:p>
            <a:pPr indent="0" lvl="0" marL="0" rtl="0" algn="l">
              <a:spcBef>
                <a:spcPts val="0"/>
              </a:spcBef>
              <a:spcAft>
                <a:spcPts val="0"/>
              </a:spcAft>
              <a:buNone/>
            </a:pPr>
            <a:r>
              <a:t/>
            </a:r>
            <a:endParaRPr b="1"/>
          </a:p>
        </p:txBody>
      </p:sp>
      <p:pic>
        <p:nvPicPr>
          <p:cNvPr id="89" name="Google Shape;89;g226205aaf16_0_10"/>
          <p:cNvPicPr preferRelativeResize="0"/>
          <p:nvPr/>
        </p:nvPicPr>
        <p:blipFill>
          <a:blip r:embed="rId3">
            <a:alphaModFix/>
          </a:blip>
          <a:stretch>
            <a:fillRect/>
          </a:stretch>
        </p:blipFill>
        <p:spPr>
          <a:xfrm>
            <a:off x="1181100" y="2286000"/>
            <a:ext cx="6781800" cy="70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226205aaf16_0_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Funzione di hashing</a:t>
            </a:r>
            <a:endParaRPr b="1"/>
          </a:p>
        </p:txBody>
      </p:sp>
      <p:sp>
        <p:nvSpPr>
          <p:cNvPr id="95" name="Google Shape;95;g226205aaf16_0_3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Una buona funzione di hashing soddisfa la</a:t>
            </a:r>
            <a:endParaRPr/>
          </a:p>
          <a:p>
            <a:pPr indent="0" lvl="0" marL="0" rtl="0" algn="l">
              <a:spcBef>
                <a:spcPts val="0"/>
              </a:spcBef>
              <a:spcAft>
                <a:spcPts val="0"/>
              </a:spcAft>
              <a:buNone/>
            </a:pPr>
            <a:r>
              <a:rPr lang="it"/>
              <a:t> </a:t>
            </a:r>
            <a:r>
              <a:rPr b="1" i="1" lang="it"/>
              <a:t>simple uniform hashing </a:t>
            </a:r>
            <a:r>
              <a:rPr b="1" i="1" lang="it"/>
              <a:t>property</a:t>
            </a:r>
            <a:endParaRPr b="1" i="1"/>
          </a:p>
          <a:p>
            <a:pPr indent="0" lvl="0" marL="0" rtl="0" algn="l">
              <a:spcBef>
                <a:spcPts val="0"/>
              </a:spcBef>
              <a:spcAft>
                <a:spcPts val="0"/>
              </a:spcAft>
              <a:buNone/>
            </a:pPr>
            <a:r>
              <a:t/>
            </a:r>
            <a:endParaRPr/>
          </a:p>
          <a:p>
            <a:pPr indent="0" lvl="0" marL="0" rtl="0" algn="l">
              <a:spcBef>
                <a:spcPts val="0"/>
              </a:spcBef>
              <a:spcAft>
                <a:spcPts val="0"/>
              </a:spcAft>
              <a:buNone/>
            </a:pPr>
            <a:r>
              <a:rPr lang="it"/>
              <a:t>Ovvero:</a:t>
            </a:r>
            <a:endParaRPr/>
          </a:p>
          <a:p>
            <a:pPr indent="-342900" lvl="0" marL="457200" rtl="0" algn="l">
              <a:spcBef>
                <a:spcPts val="0"/>
              </a:spcBef>
              <a:spcAft>
                <a:spcPts val="0"/>
              </a:spcAft>
              <a:buSzPts val="1800"/>
              <a:buAutoNum type="alphaLcParenR"/>
            </a:pPr>
            <a:r>
              <a:rPr lang="it"/>
              <a:t>una funzione di hashing h distribuisce uniformemente le chiavi negli indici [0, …, m-1] dell’array A</a:t>
            </a:r>
            <a:endParaRPr/>
          </a:p>
          <a:p>
            <a:pPr indent="-342900" lvl="0" marL="457200" rtl="0" algn="l">
              <a:spcBef>
                <a:spcPts val="0"/>
              </a:spcBef>
              <a:spcAft>
                <a:spcPts val="0"/>
              </a:spcAft>
              <a:buSzPts val="1800"/>
              <a:buAutoNum type="alphaLcParenR"/>
            </a:pPr>
            <a:r>
              <a:rPr lang="it"/>
              <a:t>ogni indice i = h(k) è generata con una probabilità di 1/m</a:t>
            </a:r>
            <a:endParaRPr/>
          </a:p>
          <a:p>
            <a:pPr indent="-317500" lvl="1" marL="914400" rtl="0" algn="l">
              <a:spcBef>
                <a:spcPts val="0"/>
              </a:spcBef>
              <a:spcAft>
                <a:spcPts val="0"/>
              </a:spcAft>
              <a:buSzPts val="1400"/>
              <a:buAutoNum type="romanLcParenR"/>
            </a:pPr>
            <a:r>
              <a:rPr lang="it"/>
              <a:t>abbiamo un numero maggiore di collisioni se alcuni indici nell’intervallo [0, … , m-1] sono scelti con una probabilità maggiore</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226205aaf16_0_4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Funzione di hashing</a:t>
            </a:r>
            <a:endParaRPr b="1"/>
          </a:p>
        </p:txBody>
      </p:sp>
      <p:sp>
        <p:nvSpPr>
          <p:cNvPr id="101" name="Google Shape;101;g226205aaf16_0_4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a:t>Affinché</a:t>
            </a:r>
            <a:r>
              <a:rPr lang="it"/>
              <a:t> la </a:t>
            </a:r>
            <a:r>
              <a:rPr b="1" lang="it"/>
              <a:t>simple uniform hashing</a:t>
            </a:r>
            <a:r>
              <a:rPr lang="it"/>
              <a:t> </a:t>
            </a:r>
            <a:r>
              <a:rPr b="1" lang="it"/>
              <a:t>property</a:t>
            </a:r>
            <a:r>
              <a:rPr lang="it"/>
              <a:t> </a:t>
            </a:r>
            <a:r>
              <a:rPr lang="it"/>
              <a:t>sia soddisfatta, dobbiamo conoscere la </a:t>
            </a:r>
            <a:r>
              <a:rPr lang="it" u="sng"/>
              <a:t>distribuzione di probabilità</a:t>
            </a:r>
            <a:r>
              <a:rPr lang="it"/>
              <a:t> con la quale le chiavi K sono scelte dall’insieme U.</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Conoscere questa distribuzione di probabilità è spesso irrealistico.</a:t>
            </a:r>
            <a:endParaRPr/>
          </a:p>
          <a:p>
            <a:pPr indent="0" lvl="0" marL="0" rtl="0" algn="l">
              <a:spcBef>
                <a:spcPts val="0"/>
              </a:spcBef>
              <a:spcAft>
                <a:spcPts val="0"/>
              </a:spcAft>
              <a:buNone/>
            </a:pPr>
            <a:br>
              <a:rPr lang="it"/>
            </a:br>
            <a:r>
              <a:rPr lang="it"/>
              <a:t>In generale diciamo quindi che:</a:t>
            </a:r>
            <a:endParaRPr/>
          </a:p>
          <a:p>
            <a:pPr indent="-334327" lvl="0" marL="457200" rtl="0" algn="l">
              <a:spcBef>
                <a:spcPts val="0"/>
              </a:spcBef>
              <a:spcAft>
                <a:spcPts val="0"/>
              </a:spcAft>
              <a:buSzPct val="100000"/>
              <a:buChar char="-"/>
            </a:pPr>
            <a:r>
              <a:rPr lang="it"/>
              <a:t>tutte le chiavi sono ugualmente scelte dall’insieme U (non sempre vero)</a:t>
            </a:r>
            <a:endParaRPr/>
          </a:p>
          <a:p>
            <a:pPr indent="-334327" lvl="0" marL="457200" rtl="0" algn="l">
              <a:spcBef>
                <a:spcPts val="0"/>
              </a:spcBef>
              <a:spcAft>
                <a:spcPts val="0"/>
              </a:spcAft>
              <a:buSzPct val="100000"/>
              <a:buChar char="-"/>
            </a:pPr>
            <a:r>
              <a:rPr lang="it"/>
              <a:t>è necessaria una semplificazione per riuscire a studiare un approccio generico</a:t>
            </a:r>
            <a:endParaRPr/>
          </a:p>
          <a:p>
            <a:pPr indent="-334327" lvl="0" marL="457200" rtl="0" algn="l">
              <a:spcBef>
                <a:spcPts val="0"/>
              </a:spcBef>
              <a:spcAft>
                <a:spcPts val="0"/>
              </a:spcAft>
              <a:buSzPct val="100000"/>
              <a:buChar char="-"/>
            </a:pPr>
            <a:r>
              <a:rPr lang="it"/>
              <a:t>una buona </a:t>
            </a:r>
            <a:r>
              <a:rPr b="1" lang="it"/>
              <a:t>hash function</a:t>
            </a:r>
            <a:r>
              <a:rPr lang="it"/>
              <a:t> deve essere risolta in un tempo O(1). Tuttavia anche questa casistica è surreale, ma ci teniamo soddisfatti che una funzione sia sufficientemente veloce per la risoluzione di un problema</a:t>
            </a:r>
            <a:endParaRPr/>
          </a:p>
          <a:p>
            <a:pPr indent="-334327" lvl="0" marL="457200" rtl="0" algn="l">
              <a:spcBef>
                <a:spcPts val="0"/>
              </a:spcBef>
              <a:spcAft>
                <a:spcPts val="0"/>
              </a:spcAft>
              <a:buSzPct val="100000"/>
              <a:buChar char="-"/>
            </a:pPr>
            <a:r>
              <a:rPr lang="it"/>
              <a:t>tutte le chiavi sono interi </a:t>
            </a:r>
            <a:r>
              <a:rPr b="1" lang="it"/>
              <a:t>non negativi</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226205aaf16_0_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Dettagli implementativi di una Hash Table</a:t>
            </a:r>
            <a:endParaRPr b="1"/>
          </a:p>
        </p:txBody>
      </p:sp>
      <p:sp>
        <p:nvSpPr>
          <p:cNvPr id="107" name="Google Shape;107;g226205aaf16_0_2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Per implementare una Hash Table abbiamo bisogno di:</a:t>
            </a:r>
            <a:endParaRPr/>
          </a:p>
          <a:p>
            <a:pPr indent="-342900" lvl="0" marL="457200" rtl="0" algn="l">
              <a:spcBef>
                <a:spcPts val="0"/>
              </a:spcBef>
              <a:spcAft>
                <a:spcPts val="0"/>
              </a:spcAft>
              <a:buSzPts val="1800"/>
              <a:buAutoNum type="arabicParenR"/>
            </a:pPr>
            <a:r>
              <a:rPr b="1" lang="it"/>
              <a:t>una funzione di hashing</a:t>
            </a:r>
            <a:r>
              <a:rPr lang="it"/>
              <a:t> </a:t>
            </a:r>
            <a:endParaRPr/>
          </a:p>
          <a:p>
            <a:pPr indent="-317500" lvl="1" marL="914400" rtl="0" algn="l">
              <a:spcBef>
                <a:spcPts val="0"/>
              </a:spcBef>
              <a:spcAft>
                <a:spcPts val="0"/>
              </a:spcAft>
              <a:buSzPts val="1400"/>
              <a:buAutoNum type="alphaLcParenR"/>
            </a:pPr>
            <a:r>
              <a:rPr lang="it"/>
              <a:t>deve poter essere eseguita </a:t>
            </a:r>
            <a:r>
              <a:rPr b="1" lang="it"/>
              <a:t>velocemente</a:t>
            </a:r>
            <a:endParaRPr/>
          </a:p>
          <a:p>
            <a:pPr indent="-317500" lvl="1" marL="914400" rtl="0" algn="l">
              <a:spcBef>
                <a:spcPts val="0"/>
              </a:spcBef>
              <a:spcAft>
                <a:spcPts val="0"/>
              </a:spcAft>
              <a:buSzPts val="1400"/>
              <a:buAutoNum type="alphaLcParenR"/>
            </a:pPr>
            <a:r>
              <a:rPr lang="it"/>
              <a:t>deve garantire una buona distribuzione di chiavi dentro l’array A</a:t>
            </a:r>
            <a:endParaRPr/>
          </a:p>
          <a:p>
            <a:pPr indent="-317500" lvl="2" marL="1371600" rtl="0" algn="l">
              <a:spcBef>
                <a:spcPts val="0"/>
              </a:spcBef>
              <a:spcAft>
                <a:spcPts val="0"/>
              </a:spcAft>
              <a:buSzPts val="1400"/>
              <a:buAutoNum type="romanLcParenR"/>
            </a:pPr>
            <a:r>
              <a:rPr lang="it"/>
              <a:t>Una buona distribuzione minimizza il numero di collisioni</a:t>
            </a:r>
            <a:endParaRPr/>
          </a:p>
          <a:p>
            <a:pPr indent="-342900" lvl="0" marL="457200" rtl="0" algn="l">
              <a:spcBef>
                <a:spcPts val="0"/>
              </a:spcBef>
              <a:spcAft>
                <a:spcPts val="0"/>
              </a:spcAft>
              <a:buSzPts val="1800"/>
              <a:buAutoNum type="arabicParenR"/>
            </a:pPr>
            <a:r>
              <a:rPr b="1" lang="it"/>
              <a:t>un metodo per risolvere le collisioni</a:t>
            </a:r>
            <a:endParaRPr b="1"/>
          </a:p>
          <a:p>
            <a:pPr indent="-342900" lvl="0" marL="457200" rtl="0" algn="l">
              <a:spcBef>
                <a:spcPts val="0"/>
              </a:spcBef>
              <a:spcAft>
                <a:spcPts val="0"/>
              </a:spcAft>
              <a:buSzPts val="1800"/>
              <a:buAutoNum type="arabicParenR"/>
            </a:pPr>
            <a:r>
              <a:rPr b="1" lang="it"/>
              <a:t>un array A [0, …, m-1] di esattamente dimensione m</a:t>
            </a:r>
            <a:endParaRPr/>
          </a:p>
          <a:p>
            <a:pPr indent="-317500" lvl="1" marL="914400" rtl="0" algn="l">
              <a:spcBef>
                <a:spcPts val="0"/>
              </a:spcBef>
              <a:spcAft>
                <a:spcPts val="0"/>
              </a:spcAft>
              <a:buSzPts val="1400"/>
              <a:buAutoNum type="alphaLcParenR"/>
            </a:pPr>
            <a:r>
              <a:rPr lang="it"/>
              <a:t>generalmente, </a:t>
            </a:r>
            <a:r>
              <a:rPr b="1" lang="it"/>
              <a:t>m</a:t>
            </a:r>
            <a:r>
              <a:rPr lang="it"/>
              <a:t> può solamente essere stimata</a:t>
            </a:r>
            <a:endParaRPr/>
          </a:p>
          <a:p>
            <a:pPr indent="-317500" lvl="1" marL="914400" rtl="0" algn="l">
              <a:spcBef>
                <a:spcPts val="0"/>
              </a:spcBef>
              <a:spcAft>
                <a:spcPts val="0"/>
              </a:spcAft>
              <a:buSzPts val="1400"/>
              <a:buAutoNum type="alphaLcParenR"/>
            </a:pPr>
            <a:r>
              <a:rPr lang="it"/>
              <a:t>non sappiamo quante chiavi potranno essere salvata in A</a:t>
            </a:r>
            <a:endParaRPr/>
          </a:p>
          <a:p>
            <a:pPr indent="-317500" lvl="1" marL="914400" rtl="0" algn="l">
              <a:spcBef>
                <a:spcPts val="0"/>
              </a:spcBef>
              <a:spcAft>
                <a:spcPts val="0"/>
              </a:spcAft>
              <a:buSzPts val="1400"/>
              <a:buAutoNum type="alphaLcParenR"/>
            </a:pPr>
            <a:r>
              <a:rPr lang="it"/>
              <a:t>potrebbe essere necessario ridimensionare A</a:t>
            </a:r>
            <a:endParaRPr/>
          </a:p>
          <a:p>
            <a:pPr indent="-317500" lvl="1" marL="914400" rtl="0" algn="l">
              <a:spcBef>
                <a:spcPts val="0"/>
              </a:spcBef>
              <a:spcAft>
                <a:spcPts val="0"/>
              </a:spcAft>
              <a:buSzPts val="1400"/>
              <a:buAutoNum type="alphaLcParenR"/>
            </a:pPr>
            <a:r>
              <a:rPr lang="it"/>
              <a:t>la miglior scelta per la </a:t>
            </a:r>
            <a:r>
              <a:rPr b="1" lang="it"/>
              <a:t>dimensione</a:t>
            </a:r>
            <a:r>
              <a:rPr lang="it"/>
              <a:t> </a:t>
            </a:r>
            <a:r>
              <a:rPr b="1" lang="it"/>
              <a:t>m</a:t>
            </a:r>
            <a:r>
              <a:rPr lang="it"/>
              <a:t> dipende dalla funzione di hashing e dall’approccio adottato per la risoluzione delle collisioni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26865f759b_0_0"/>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Funzione di hashing: metodo della divisione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26205aaf16_0_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Funzione di hashing: il metodo della divisione</a:t>
            </a:r>
            <a:endParaRPr b="1"/>
          </a:p>
        </p:txBody>
      </p:sp>
      <p:sp>
        <p:nvSpPr>
          <p:cNvPr id="118" name="Google Shape;118;g226205aaf16_0_4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t" sz="2270"/>
              <a:t>h(k) = k mod m </a:t>
            </a:r>
            <a:endParaRPr sz="2270"/>
          </a:p>
          <a:p>
            <a:pPr indent="0" lvl="0" marL="0" rtl="0" algn="l">
              <a:spcBef>
                <a:spcPts val="0"/>
              </a:spcBef>
              <a:spcAft>
                <a:spcPts val="0"/>
              </a:spcAft>
              <a:buNone/>
            </a:pPr>
            <a:r>
              <a:t/>
            </a:r>
            <a:endParaRPr/>
          </a:p>
          <a:p>
            <a:pPr indent="0" lvl="0" marL="0" rtl="0" algn="l">
              <a:spcBef>
                <a:spcPts val="0"/>
              </a:spcBef>
              <a:spcAft>
                <a:spcPts val="0"/>
              </a:spcAft>
              <a:buNone/>
            </a:pPr>
            <a:r>
              <a:rPr lang="it"/>
              <a:t>dove:</a:t>
            </a:r>
            <a:endParaRPr/>
          </a:p>
          <a:p>
            <a:pPr indent="-325755" lvl="0" marL="457200" rtl="0" algn="l">
              <a:spcBef>
                <a:spcPts val="0"/>
              </a:spcBef>
              <a:spcAft>
                <a:spcPts val="0"/>
              </a:spcAft>
              <a:buSzPct val="100000"/>
              <a:buChar char="-"/>
            </a:pPr>
            <a:r>
              <a:rPr lang="it"/>
              <a:t>m = dimensione della tabella</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Esempio:</a:t>
            </a:r>
            <a:endParaRPr/>
          </a:p>
          <a:p>
            <a:pPr indent="0" lvl="0" marL="0" rtl="0" algn="l">
              <a:spcBef>
                <a:spcPts val="0"/>
              </a:spcBef>
              <a:spcAft>
                <a:spcPts val="0"/>
              </a:spcAft>
              <a:buNone/>
            </a:pPr>
            <a:r>
              <a:rPr lang="it"/>
              <a:t>se m = 12, k = 100 allora h(k) = 4 → l’elemento verrà inserito in A[4]</a:t>
            </a:r>
            <a:endParaRPr/>
          </a:p>
          <a:p>
            <a:pPr indent="0" lvl="0" marL="0" rtl="0" algn="l">
              <a:spcBef>
                <a:spcPts val="0"/>
              </a:spcBef>
              <a:spcAft>
                <a:spcPts val="0"/>
              </a:spcAft>
              <a:buNone/>
            </a:pPr>
            <a:r>
              <a:rPr lang="it"/>
              <a:t>se m = 10, k = 101 allora k(h) = 1 → l’elemento verrà inserito in A[1]</a:t>
            </a:r>
            <a:endParaRPr/>
          </a:p>
          <a:p>
            <a:pPr indent="0" lvl="0" marL="0" rtl="0" algn="l">
              <a:spcBef>
                <a:spcPts val="0"/>
              </a:spcBef>
              <a:spcAft>
                <a:spcPts val="0"/>
              </a:spcAft>
              <a:buNone/>
            </a:pPr>
            <a:r>
              <a:rPr lang="it"/>
              <a:t>Contro:</a:t>
            </a:r>
            <a:endParaRPr/>
          </a:p>
          <a:p>
            <a:pPr indent="-325755" lvl="0" marL="457200" rtl="0" algn="l">
              <a:spcBef>
                <a:spcPts val="0"/>
              </a:spcBef>
              <a:spcAft>
                <a:spcPts val="0"/>
              </a:spcAft>
              <a:buSzPct val="100000"/>
              <a:buChar char="-"/>
            </a:pPr>
            <a:r>
              <a:rPr lang="it"/>
              <a:t>non tutti i valori di m danno una buona funzione di hashing</a:t>
            </a:r>
            <a:endParaRPr/>
          </a:p>
          <a:p>
            <a:pPr indent="-304165" lvl="1" marL="914400" rtl="0" algn="l">
              <a:spcBef>
                <a:spcPts val="0"/>
              </a:spcBef>
              <a:spcAft>
                <a:spcPts val="0"/>
              </a:spcAft>
              <a:buSzPct val="100000"/>
              <a:buChar char="-"/>
            </a:pPr>
            <a:r>
              <a:rPr lang="it"/>
              <a:t>se m = 10, allora h(k) è sempre l’ultima cifra di k</a:t>
            </a:r>
            <a:endParaRPr/>
          </a:p>
          <a:p>
            <a:pPr indent="-304165" lvl="1" marL="914400" rtl="0" algn="l">
              <a:spcBef>
                <a:spcPts val="0"/>
              </a:spcBef>
              <a:spcAft>
                <a:spcPts val="0"/>
              </a:spcAft>
              <a:buSzPct val="100000"/>
              <a:buChar char="-"/>
            </a:pPr>
            <a:r>
              <a:rPr lang="it"/>
              <a:t>se m = 2^p allora h(k) dipende dall’ultimo bit significativo p di k</a:t>
            </a:r>
            <a:endParaRPr/>
          </a:p>
          <a:p>
            <a:pPr indent="0" lvl="0" marL="0" rtl="0" algn="l">
              <a:spcBef>
                <a:spcPts val="0"/>
              </a:spcBef>
              <a:spcAft>
                <a:spcPts val="0"/>
              </a:spcAft>
              <a:buNone/>
            </a:pPr>
            <a:r>
              <a:rPr b="1" lang="it"/>
              <a:t>Soluzione:</a:t>
            </a:r>
            <a:endParaRPr b="1"/>
          </a:p>
          <a:p>
            <a:pPr indent="0" lvl="0" marL="0" rtl="0" algn="l">
              <a:spcBef>
                <a:spcPts val="0"/>
              </a:spcBef>
              <a:spcAft>
                <a:spcPts val="0"/>
              </a:spcAft>
              <a:buNone/>
            </a:pPr>
            <a:r>
              <a:rPr b="1" i="1" lang="it"/>
              <a:t>scegliere come m un numero primo lontano dalle potenze di 2 e di 10 </a:t>
            </a:r>
            <a:endParaRPr b="1" i="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26865f759b_0_9"/>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Funzione di hashing: metodo della moltiplicazione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26865f759b_0_13"/>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it"/>
              <a:t>Funzione di hashing: il metodo della moltiplicazione</a:t>
            </a:r>
            <a:endParaRPr b="1"/>
          </a:p>
        </p:txBody>
      </p:sp>
      <p:sp>
        <p:nvSpPr>
          <p:cNvPr id="129" name="Google Shape;129;g226865f759b_0_1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t" sz="2035"/>
              <a:t>h(k) = </a:t>
            </a:r>
            <a:r>
              <a:rPr lang="it" sz="2035"/>
              <a:t>⌊ m (kC - ⌊kC⌋)⌋</a:t>
            </a:r>
            <a:endParaRPr sz="2035"/>
          </a:p>
          <a:p>
            <a:pPr indent="0" lvl="0" marL="0" rtl="0" algn="l">
              <a:spcBef>
                <a:spcPts val="0"/>
              </a:spcBef>
              <a:spcAft>
                <a:spcPts val="0"/>
              </a:spcAft>
              <a:buNone/>
            </a:pPr>
            <a:r>
              <a:t/>
            </a:r>
            <a:endParaRPr/>
          </a:p>
          <a:p>
            <a:pPr indent="0" lvl="0" marL="0" rtl="0" algn="l">
              <a:spcBef>
                <a:spcPts val="0"/>
              </a:spcBef>
              <a:spcAft>
                <a:spcPts val="0"/>
              </a:spcAft>
              <a:buNone/>
            </a:pPr>
            <a:r>
              <a:rPr lang="it"/>
              <a:t>dove:</a:t>
            </a:r>
            <a:endParaRPr/>
          </a:p>
          <a:p>
            <a:pPr indent="-325755" lvl="0" marL="457200" rtl="0" algn="l">
              <a:spcBef>
                <a:spcPts val="0"/>
              </a:spcBef>
              <a:spcAft>
                <a:spcPts val="0"/>
              </a:spcAft>
              <a:buSzPct val="100000"/>
              <a:buChar char="-"/>
            </a:pPr>
            <a:r>
              <a:rPr lang="it"/>
              <a:t>m = dimensione della tabella</a:t>
            </a:r>
            <a:endParaRPr/>
          </a:p>
          <a:p>
            <a:pPr indent="-325755" lvl="0" marL="457200" rtl="0" algn="l">
              <a:spcBef>
                <a:spcPts val="0"/>
              </a:spcBef>
              <a:spcAft>
                <a:spcPts val="0"/>
              </a:spcAft>
              <a:buSzPct val="100000"/>
              <a:buChar char="-"/>
            </a:pPr>
            <a:r>
              <a:rPr lang="it"/>
              <a:t>C = una costante 0 &lt; C &lt; 1</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Esempio:</a:t>
            </a:r>
            <a:endParaRPr/>
          </a:p>
          <a:p>
            <a:pPr indent="0" lvl="0" marL="0" rtl="0" algn="l">
              <a:spcBef>
                <a:spcPts val="0"/>
              </a:spcBef>
              <a:spcAft>
                <a:spcPts val="0"/>
              </a:spcAft>
              <a:buNone/>
            </a:pPr>
            <a:r>
              <a:rPr lang="it"/>
              <a:t>se m = 10, k = 101, C = 0,8 allora k(h) = 9 → l’elemento verrà inserito in A[9]</a:t>
            </a:r>
            <a:endParaRPr/>
          </a:p>
          <a:p>
            <a:pPr indent="0" lvl="0" marL="0" rtl="0" algn="l">
              <a:spcBef>
                <a:spcPts val="0"/>
              </a:spcBef>
              <a:spcAft>
                <a:spcPts val="0"/>
              </a:spcAft>
              <a:buNone/>
            </a:pPr>
            <a:r>
              <a:rPr lang="it"/>
              <a:t>se m = 1000, k = 124, C = (√5-1) / 2 allora k(h) = 18 → l’elemento verrà inserito in A[18]</a:t>
            </a:r>
            <a:endParaRPr/>
          </a:p>
          <a:p>
            <a:pPr indent="0" lvl="0" marL="0" rtl="0" algn="l">
              <a:spcBef>
                <a:spcPts val="0"/>
              </a:spcBef>
              <a:spcAft>
                <a:spcPts val="0"/>
              </a:spcAft>
              <a:buNone/>
            </a:pPr>
            <a:r>
              <a:rPr lang="it"/>
              <a:t>Contro:</a:t>
            </a:r>
            <a:endParaRPr/>
          </a:p>
          <a:p>
            <a:pPr indent="-325755" lvl="0" marL="457200" rtl="0" algn="l">
              <a:spcBef>
                <a:spcPts val="0"/>
              </a:spcBef>
              <a:spcAft>
                <a:spcPts val="0"/>
              </a:spcAft>
              <a:buSzPct val="100000"/>
              <a:buChar char="-"/>
            </a:pPr>
            <a:r>
              <a:rPr lang="it"/>
              <a:t>La costante C ha effetto sulla </a:t>
            </a:r>
            <a:r>
              <a:rPr b="1" lang="it"/>
              <a:t>uniform hashing property</a:t>
            </a:r>
            <a:r>
              <a:rPr lang="it"/>
              <a:t> di h</a:t>
            </a:r>
            <a:endParaRPr/>
          </a:p>
          <a:p>
            <a:pPr indent="-304165" lvl="1" marL="914400" rtl="0" algn="l">
              <a:spcBef>
                <a:spcPts val="0"/>
              </a:spcBef>
              <a:spcAft>
                <a:spcPts val="0"/>
              </a:spcAft>
              <a:buSzPct val="100000"/>
              <a:buChar char="-"/>
            </a:pPr>
            <a:r>
              <a:rPr i="1" lang="it"/>
              <a:t>The Art of Computer Programming, Vol. 3 (</a:t>
            </a:r>
            <a:r>
              <a:rPr lang="it" sz="1800"/>
              <a:t>√5-1) / 2</a:t>
            </a:r>
            <a:endParaRPr i="1"/>
          </a:p>
          <a:p>
            <a:pPr indent="0" lvl="0" marL="0" rtl="0" algn="l">
              <a:spcBef>
                <a:spcPts val="0"/>
              </a:spcBef>
              <a:spcAft>
                <a:spcPts val="0"/>
              </a:spcAft>
              <a:buNone/>
            </a:pPr>
            <a:r>
              <a:rPr b="1" lang="it"/>
              <a:t>Pro:</a:t>
            </a:r>
            <a:endParaRPr b="1"/>
          </a:p>
          <a:p>
            <a:pPr indent="0" lvl="0" marL="0" rtl="0" algn="l">
              <a:spcBef>
                <a:spcPts val="0"/>
              </a:spcBef>
              <a:spcAft>
                <a:spcPts val="0"/>
              </a:spcAft>
              <a:buNone/>
            </a:pPr>
            <a:r>
              <a:rPr b="1" lang="it"/>
              <a:t>La dimensione m della tabella NON è un valore critico</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26865f759b_0_22"/>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Funzione di hashing: metodo della codifica algebrica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26865f759b_0_26"/>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it"/>
              <a:t>Funzione di hashing: </a:t>
            </a:r>
            <a:r>
              <a:rPr lang="it"/>
              <a:t>metodo della codifica algebrica</a:t>
            </a:r>
            <a:endParaRPr b="1"/>
          </a:p>
        </p:txBody>
      </p:sp>
      <p:sp>
        <p:nvSpPr>
          <p:cNvPr id="140" name="Google Shape;140;g226865f759b_0_2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dove:</a:t>
            </a:r>
            <a:endParaRPr/>
          </a:p>
          <a:p>
            <a:pPr indent="-325755" lvl="0" marL="457200" rtl="0" algn="l">
              <a:spcBef>
                <a:spcPts val="0"/>
              </a:spcBef>
              <a:spcAft>
                <a:spcPts val="0"/>
              </a:spcAft>
              <a:buSzPct val="100000"/>
              <a:buChar char="-"/>
            </a:pPr>
            <a:r>
              <a:rPr lang="it"/>
              <a:t>ki = è la rappresentazione binaria di k, ovvero il suo i-esimo decimale</a:t>
            </a:r>
            <a:endParaRPr/>
          </a:p>
          <a:p>
            <a:pPr indent="-325755" lvl="0" marL="457200" rtl="0" algn="l">
              <a:spcBef>
                <a:spcPts val="0"/>
              </a:spcBef>
              <a:spcAft>
                <a:spcPts val="0"/>
              </a:spcAft>
              <a:buSzPct val="100000"/>
              <a:buChar char="-"/>
            </a:pPr>
            <a:r>
              <a:rPr lang="it"/>
              <a:t>x = valore costante</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Esempio:</a:t>
            </a:r>
            <a:endParaRPr/>
          </a:p>
          <a:p>
            <a:pPr indent="0" lvl="0" marL="0" rtl="0" algn="l">
              <a:spcBef>
                <a:spcPts val="0"/>
              </a:spcBef>
              <a:spcAft>
                <a:spcPts val="0"/>
              </a:spcAft>
              <a:buNone/>
            </a:pPr>
            <a:r>
              <a:rPr lang="it"/>
              <a:t>se m = 12, k = 234, x = 3 allora k(h) = (2 x 3^2 + 3x3 + 4) mod 12 → l’elemento verrà inserito in A[7]</a:t>
            </a:r>
            <a:endParaRPr/>
          </a:p>
          <a:p>
            <a:pPr indent="0" lvl="0" marL="0" rtl="0" algn="l">
              <a:spcBef>
                <a:spcPts val="0"/>
              </a:spcBef>
              <a:spcAft>
                <a:spcPts val="0"/>
              </a:spcAft>
              <a:buNone/>
            </a:pPr>
            <a:r>
              <a:rPr lang="it"/>
              <a:t>Contro:</a:t>
            </a:r>
            <a:endParaRPr/>
          </a:p>
          <a:p>
            <a:pPr indent="-325755" lvl="0" marL="457200" rtl="0" algn="l">
              <a:spcBef>
                <a:spcPts val="0"/>
              </a:spcBef>
              <a:spcAft>
                <a:spcPts val="0"/>
              </a:spcAft>
              <a:buSzPct val="100000"/>
              <a:buChar char="-"/>
            </a:pPr>
            <a:r>
              <a:rPr lang="it"/>
              <a:t>dispendiosa</a:t>
            </a:r>
            <a:r>
              <a:rPr lang="it"/>
              <a:t> a livello computazionale</a:t>
            </a:r>
            <a:endParaRPr/>
          </a:p>
          <a:p>
            <a:pPr indent="-325755" lvl="0" marL="457200" rtl="0" algn="l">
              <a:spcBef>
                <a:spcPts val="0"/>
              </a:spcBef>
              <a:spcAft>
                <a:spcPts val="0"/>
              </a:spcAft>
              <a:buSzPct val="100000"/>
              <a:buChar char="-"/>
            </a:pPr>
            <a:r>
              <a:rPr lang="it"/>
              <a:t>richiede n somme e diversi prodotti, con un totale di O(logk) </a:t>
            </a:r>
            <a:r>
              <a:rPr b="1" lang="it"/>
              <a:t>→</a:t>
            </a:r>
            <a:r>
              <a:rPr lang="it"/>
              <a:t> </a:t>
            </a:r>
            <a:r>
              <a:rPr b="1" lang="it"/>
              <a:t>non è O(1)</a:t>
            </a:r>
            <a:endParaRPr b="1"/>
          </a:p>
          <a:p>
            <a:pPr indent="0" lvl="0" marL="0" rtl="0" algn="l">
              <a:spcBef>
                <a:spcPts val="0"/>
              </a:spcBef>
              <a:spcAft>
                <a:spcPts val="0"/>
              </a:spcAft>
              <a:buNone/>
            </a:pPr>
            <a:r>
              <a:rPr b="1" lang="it"/>
              <a:t>Pro:</a:t>
            </a:r>
            <a:endParaRPr b="1"/>
          </a:p>
          <a:p>
            <a:pPr indent="-325755" lvl="0" marL="457200" rtl="0" algn="l">
              <a:spcBef>
                <a:spcPts val="0"/>
              </a:spcBef>
              <a:spcAft>
                <a:spcPts val="0"/>
              </a:spcAft>
              <a:buSzPct val="100000"/>
              <a:buChar char="-"/>
            </a:pPr>
            <a:r>
              <a:rPr b="1" lang="it"/>
              <a:t>Usa tutti i bit della chiave k</a:t>
            </a:r>
            <a:endParaRPr b="1"/>
          </a:p>
        </p:txBody>
      </p:sp>
      <p:pic>
        <p:nvPicPr>
          <p:cNvPr id="141" name="Google Shape;141;g226865f759b_0_26"/>
          <p:cNvPicPr preferRelativeResize="0"/>
          <p:nvPr/>
        </p:nvPicPr>
        <p:blipFill>
          <a:blip r:embed="rId3">
            <a:alphaModFix/>
          </a:blip>
          <a:stretch>
            <a:fillRect/>
          </a:stretch>
        </p:blipFill>
        <p:spPr>
          <a:xfrm>
            <a:off x="1786850" y="1225225"/>
            <a:ext cx="5251550" cy="422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26205aaf16_0_16"/>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Problema: collisioni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226205aaf16_0_20"/>
          <p:cNvPicPr preferRelativeResize="0"/>
          <p:nvPr/>
        </p:nvPicPr>
        <p:blipFill>
          <a:blip r:embed="rId3">
            <a:alphaModFix/>
          </a:blip>
          <a:stretch>
            <a:fillRect/>
          </a:stretch>
        </p:blipFill>
        <p:spPr>
          <a:xfrm>
            <a:off x="736574" y="594013"/>
            <a:ext cx="7670850" cy="3955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26205aaf16_0_25"/>
          <p:cNvSpPr txBox="1"/>
          <p:nvPr>
            <p:ph type="title"/>
          </p:nvPr>
        </p:nvSpPr>
        <p:spPr>
          <a:xfrm>
            <a:off x="773700" y="814800"/>
            <a:ext cx="7596600" cy="358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Per quanto buona sia una funzione di hashing, per grandi quantitativi di dati non è MAI possibile evitare completamente una collisione.</a:t>
            </a:r>
            <a:endParaRPr/>
          </a:p>
          <a:p>
            <a:pPr indent="0" lvl="0" marL="0" rtl="0" algn="ctr">
              <a:lnSpc>
                <a:spcPct val="100000"/>
              </a:lnSpc>
              <a:spcBef>
                <a:spcPts val="0"/>
              </a:spcBef>
              <a:spcAft>
                <a:spcPts val="0"/>
              </a:spcAft>
              <a:buSzPts val="4200"/>
              <a:buNone/>
            </a:pPr>
            <a:r>
              <a:rPr lang="it"/>
              <a:t>Ci servono metodi per </a:t>
            </a:r>
            <a:r>
              <a:rPr b="1" lang="it"/>
              <a:t>risolvere</a:t>
            </a:r>
            <a:r>
              <a:rPr lang="it"/>
              <a:t> le collisioni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26865f759b_0_32"/>
          <p:cNvSpPr txBox="1"/>
          <p:nvPr>
            <p:ph type="title"/>
          </p:nvPr>
        </p:nvSpPr>
        <p:spPr>
          <a:xfrm>
            <a:off x="773700" y="814800"/>
            <a:ext cx="7596600" cy="358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Anche garantendo la </a:t>
            </a:r>
            <a:r>
              <a:rPr b="1" lang="it"/>
              <a:t>simple uniform hashing, </a:t>
            </a:r>
            <a:r>
              <a:rPr lang="it"/>
              <a:t>la probabilità di collisioni tra due chiavi è veramente (inaspettatamente) molto elevata.</a:t>
            </a:r>
            <a:endParaRPr/>
          </a:p>
          <a:p>
            <a:pPr indent="0" lvl="0" marL="0" rtl="0" algn="l">
              <a:lnSpc>
                <a:spcPct val="100000"/>
              </a:lnSpc>
              <a:spcBef>
                <a:spcPts val="0"/>
              </a:spcBef>
              <a:spcAft>
                <a:spcPts val="0"/>
              </a:spcAft>
              <a:buSzPts val="42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26865f759b_0_36"/>
          <p:cNvSpPr txBox="1"/>
          <p:nvPr>
            <p:ph type="title"/>
          </p:nvPr>
        </p:nvSpPr>
        <p:spPr>
          <a:xfrm>
            <a:off x="773700" y="814800"/>
            <a:ext cx="7596600" cy="35805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200"/>
              <a:buNone/>
            </a:pPr>
            <a:r>
              <a:rPr b="1" lang="it"/>
              <a:t>Paradosso dei compleanni: </a:t>
            </a:r>
            <a:r>
              <a:rPr lang="it"/>
              <a:t>date n persone scelte casualmente, qual è la probabilità che almeno due di loro condividano lo stesso giorno di compleanno?</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g226865f759b_0_40"/>
          <p:cNvPicPr preferRelativeResize="0"/>
          <p:nvPr/>
        </p:nvPicPr>
        <p:blipFill>
          <a:blip r:embed="rId3">
            <a:alphaModFix/>
          </a:blip>
          <a:stretch>
            <a:fillRect/>
          </a:stretch>
        </p:blipFill>
        <p:spPr>
          <a:xfrm>
            <a:off x="1286200" y="1433175"/>
            <a:ext cx="6878624" cy="2209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26865f759b_0_45"/>
          <p:cNvSpPr txBox="1"/>
          <p:nvPr>
            <p:ph type="title"/>
          </p:nvPr>
        </p:nvSpPr>
        <p:spPr>
          <a:xfrm>
            <a:off x="773700" y="814800"/>
            <a:ext cx="7596600" cy="35805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b="1" lang="it" u="sng"/>
              <a:t>Risoluzioni di collisioni</a:t>
            </a:r>
            <a:endParaRPr b="1" u="sng"/>
          </a:p>
          <a:p>
            <a:pPr indent="0" lvl="0" marL="0" rtl="0" algn="l">
              <a:lnSpc>
                <a:spcPct val="100000"/>
              </a:lnSpc>
              <a:spcBef>
                <a:spcPts val="0"/>
              </a:spcBef>
              <a:spcAft>
                <a:spcPts val="0"/>
              </a:spcAft>
              <a:buSzPct val="100000"/>
              <a:buNone/>
            </a:pPr>
            <a:r>
              <a:rPr lang="it"/>
              <a:t>Esistono due diversi metodi per risolvere le collisioni, ed entrambi si basano sul cercare una locazione diversa per le chiavi che collidono. </a:t>
            </a:r>
            <a:endParaRPr/>
          </a:p>
          <a:p>
            <a:pPr indent="0" lvl="0" marL="0" rtl="0" algn="l">
              <a:lnSpc>
                <a:spcPct val="100000"/>
              </a:lnSpc>
              <a:spcBef>
                <a:spcPts val="0"/>
              </a:spcBef>
              <a:spcAft>
                <a:spcPts val="0"/>
              </a:spcAft>
              <a:buSzPct val="100000"/>
              <a:buNone/>
            </a:pPr>
            <a:r>
              <a:rPr lang="it"/>
              <a:t>La prima prende il nome di </a:t>
            </a:r>
            <a:r>
              <a:rPr b="1" lang="it"/>
              <a:t>Chaining,</a:t>
            </a:r>
            <a:r>
              <a:rPr lang="it"/>
              <a:t> la seconda di </a:t>
            </a:r>
            <a:r>
              <a:rPr b="1" lang="it"/>
              <a:t>Open Addressing</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26865f759b_0_4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Risoluzione delle collisioni: chaining</a:t>
            </a:r>
            <a:endParaRPr b="1"/>
          </a:p>
        </p:txBody>
      </p:sp>
      <p:pic>
        <p:nvPicPr>
          <p:cNvPr id="182" name="Google Shape;182;g226865f759b_0_49"/>
          <p:cNvPicPr preferRelativeResize="0"/>
          <p:nvPr/>
        </p:nvPicPr>
        <p:blipFill>
          <a:blip r:embed="rId3">
            <a:alphaModFix/>
          </a:blip>
          <a:stretch>
            <a:fillRect/>
          </a:stretch>
        </p:blipFill>
        <p:spPr>
          <a:xfrm>
            <a:off x="152400" y="1299625"/>
            <a:ext cx="4916849" cy="2138575"/>
          </a:xfrm>
          <a:prstGeom prst="rect">
            <a:avLst/>
          </a:prstGeom>
          <a:noFill/>
          <a:ln>
            <a:noFill/>
          </a:ln>
        </p:spPr>
      </p:pic>
      <p:sp>
        <p:nvSpPr>
          <p:cNvPr id="183" name="Google Shape;183;g226865f759b_0_49"/>
          <p:cNvSpPr txBox="1"/>
          <p:nvPr/>
        </p:nvSpPr>
        <p:spPr>
          <a:xfrm>
            <a:off x="5264050" y="3114250"/>
            <a:ext cx="3423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Tutte le chiavi k con le stesse h(k) sono salvate in una Singly Linked List</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Lo slot A[h(k)] contiene un puntatore alla testa della lista contenente tutte le chiavi k con la stessa hash value</a:t>
            </a:r>
            <a:endParaRPr>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226865f759b_0_5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it"/>
              <a:t>Risoluzione delle collisioni: chaining</a:t>
            </a:r>
            <a:endParaRPr b="1"/>
          </a:p>
        </p:txBody>
      </p:sp>
      <p:pic>
        <p:nvPicPr>
          <p:cNvPr id="189" name="Google Shape;189;g226865f759b_0_56"/>
          <p:cNvPicPr preferRelativeResize="0"/>
          <p:nvPr/>
        </p:nvPicPr>
        <p:blipFill>
          <a:blip r:embed="rId3">
            <a:alphaModFix/>
          </a:blip>
          <a:stretch>
            <a:fillRect/>
          </a:stretch>
        </p:blipFill>
        <p:spPr>
          <a:xfrm>
            <a:off x="1345775" y="1100850"/>
            <a:ext cx="6452455" cy="3691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26865f759b_0_6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it"/>
              <a:t>Analisi dei costi</a:t>
            </a:r>
            <a:r>
              <a:rPr b="1" lang="it"/>
              <a:t>: chaining</a:t>
            </a:r>
            <a:endParaRPr b="1"/>
          </a:p>
        </p:txBody>
      </p:sp>
      <p:sp>
        <p:nvSpPr>
          <p:cNvPr id="195" name="Google Shape;195;g226865f759b_0_63"/>
          <p:cNvSpPr txBox="1"/>
          <p:nvPr/>
        </p:nvSpPr>
        <p:spPr>
          <a:xfrm>
            <a:off x="301850" y="1207425"/>
            <a:ext cx="84447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Quali sono le dimensioni ottimali della tabella con il metodo di chaining?</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non ci sono vincoli sulla dimensione dell’array</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se m è troppo grande c’è il rischio di sprecare spazio</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se m è troppo piccola, avremmo Linked List troppo lunge</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Quali sono i costi di RICERCA, INSERIMENTO e CANCELLAZIONE?</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Definita </a:t>
            </a:r>
            <a:r>
              <a:rPr b="1" lang="it">
                <a:latin typeface="Open Sans"/>
                <a:ea typeface="Open Sans"/>
                <a:cs typeface="Open Sans"/>
                <a:sym typeface="Open Sans"/>
              </a:rPr>
              <a:t>L </a:t>
            </a:r>
            <a:r>
              <a:rPr lang="it">
                <a:latin typeface="Open Sans"/>
                <a:ea typeface="Open Sans"/>
                <a:cs typeface="Open Sans"/>
                <a:sym typeface="Open Sans"/>
              </a:rPr>
              <a:t>la lunghezza della Linked List più lunga nella Hash Table</a:t>
            </a:r>
            <a:endParaRPr>
              <a:latin typeface="Open Sans"/>
              <a:ea typeface="Open Sans"/>
              <a:cs typeface="Open Sans"/>
              <a:sym typeface="Open Sans"/>
            </a:endParaRPr>
          </a:p>
          <a:p>
            <a:pPr indent="-317500" lvl="1" marL="914400" rtl="0" algn="l">
              <a:spcBef>
                <a:spcPts val="0"/>
              </a:spcBef>
              <a:spcAft>
                <a:spcPts val="0"/>
              </a:spcAft>
              <a:buSzPts val="1400"/>
              <a:buFont typeface="Open Sans"/>
              <a:buChar char="-"/>
            </a:pPr>
            <a:r>
              <a:rPr lang="it">
                <a:latin typeface="Open Sans"/>
                <a:ea typeface="Open Sans"/>
                <a:cs typeface="Open Sans"/>
                <a:sym typeface="Open Sans"/>
              </a:rPr>
              <a:t>RICERCA → O(L)</a:t>
            </a:r>
            <a:endParaRPr>
              <a:latin typeface="Open Sans"/>
              <a:ea typeface="Open Sans"/>
              <a:cs typeface="Open Sans"/>
              <a:sym typeface="Open Sans"/>
            </a:endParaRPr>
          </a:p>
          <a:p>
            <a:pPr indent="-317500" lvl="1" marL="914400" rtl="0" algn="l">
              <a:spcBef>
                <a:spcPts val="0"/>
              </a:spcBef>
              <a:spcAft>
                <a:spcPts val="0"/>
              </a:spcAft>
              <a:buSzPts val="1400"/>
              <a:buFont typeface="Open Sans"/>
              <a:buChar char="-"/>
            </a:pPr>
            <a:r>
              <a:rPr lang="it">
                <a:latin typeface="Open Sans"/>
                <a:ea typeface="Open Sans"/>
                <a:cs typeface="Open Sans"/>
                <a:sym typeface="Open Sans"/>
              </a:rPr>
              <a:t>INSERIMENTO → O(1)</a:t>
            </a:r>
            <a:endParaRPr>
              <a:latin typeface="Open Sans"/>
              <a:ea typeface="Open Sans"/>
              <a:cs typeface="Open Sans"/>
              <a:sym typeface="Open Sans"/>
            </a:endParaRPr>
          </a:p>
          <a:p>
            <a:pPr indent="-317500" lvl="1" marL="914400" rtl="0" algn="l">
              <a:spcBef>
                <a:spcPts val="0"/>
              </a:spcBef>
              <a:spcAft>
                <a:spcPts val="0"/>
              </a:spcAft>
              <a:buSzPts val="1400"/>
              <a:buFont typeface="Open Sans"/>
              <a:buChar char="-"/>
            </a:pPr>
            <a:r>
              <a:rPr lang="it">
                <a:latin typeface="Open Sans"/>
                <a:ea typeface="Open Sans"/>
                <a:cs typeface="Open Sans"/>
                <a:sym typeface="Open Sans"/>
              </a:rPr>
              <a:t>CANCELLAZIONE → O(1)</a:t>
            </a:r>
            <a:endParaRPr>
              <a:latin typeface="Open Sans"/>
              <a:ea typeface="Open Sans"/>
              <a:cs typeface="Open Sans"/>
              <a:sym typeface="Open Sans"/>
            </a:endParaRPr>
          </a:p>
          <a:p>
            <a:pPr indent="-317500" lvl="1" marL="914400" rtl="0" algn="l">
              <a:spcBef>
                <a:spcPts val="0"/>
              </a:spcBef>
              <a:spcAft>
                <a:spcPts val="0"/>
              </a:spcAft>
              <a:buSzPts val="1400"/>
              <a:buFont typeface="Open Sans"/>
              <a:buChar char="-"/>
            </a:pPr>
            <a:r>
              <a:rPr lang="it">
                <a:latin typeface="Open Sans"/>
                <a:ea typeface="Open Sans"/>
                <a:cs typeface="Open Sans"/>
                <a:sym typeface="Open Sans"/>
              </a:rPr>
              <a:t>L = O(n), dove n = numero di elementi nella tabella</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229b5aeecb9_0_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Risoluzione delle collisioni: open addressing</a:t>
            </a:r>
            <a:endParaRPr b="1"/>
          </a:p>
        </p:txBody>
      </p:sp>
      <p:sp>
        <p:nvSpPr>
          <p:cNvPr id="201" name="Google Shape;201;g229b5aeecb9_0_5"/>
          <p:cNvSpPr txBox="1"/>
          <p:nvPr/>
        </p:nvSpPr>
        <p:spPr>
          <a:xfrm>
            <a:off x="5264050" y="3114250"/>
            <a:ext cx="34236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Tutte le chiavi k sono salvate in un Array A</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Ogni slot contiene una key (e la sua value associata) oppure NIL</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Quando uno slot è pieno, si </a:t>
            </a:r>
            <a:r>
              <a:rPr b="1" lang="it">
                <a:latin typeface="Open Sans"/>
                <a:ea typeface="Open Sans"/>
                <a:cs typeface="Open Sans"/>
                <a:sym typeface="Open Sans"/>
              </a:rPr>
              <a:t>cerca</a:t>
            </a:r>
            <a:r>
              <a:rPr lang="it">
                <a:latin typeface="Open Sans"/>
                <a:ea typeface="Open Sans"/>
                <a:cs typeface="Open Sans"/>
                <a:sym typeface="Open Sans"/>
              </a:rPr>
              <a:t> per una posizione alternativa nella tabella</a:t>
            </a:r>
            <a:endParaRPr>
              <a:latin typeface="Open Sans"/>
              <a:ea typeface="Open Sans"/>
              <a:cs typeface="Open Sans"/>
              <a:sym typeface="Open Sans"/>
            </a:endParaRPr>
          </a:p>
        </p:txBody>
      </p:sp>
      <p:pic>
        <p:nvPicPr>
          <p:cNvPr id="202" name="Google Shape;202;g229b5aeecb9_0_5"/>
          <p:cNvPicPr preferRelativeResize="0"/>
          <p:nvPr/>
        </p:nvPicPr>
        <p:blipFill>
          <a:blip r:embed="rId3">
            <a:alphaModFix/>
          </a:blip>
          <a:stretch>
            <a:fillRect/>
          </a:stretch>
        </p:blipFill>
        <p:spPr>
          <a:xfrm>
            <a:off x="152400" y="1315600"/>
            <a:ext cx="4959247" cy="264565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29b5aeecb9_0_1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Open addressing: ricerca (probing)</a:t>
            </a:r>
            <a:endParaRPr b="1"/>
          </a:p>
        </p:txBody>
      </p:sp>
      <p:sp>
        <p:nvSpPr>
          <p:cNvPr id="208" name="Google Shape;208;g229b5aeecb9_0_12"/>
          <p:cNvSpPr txBox="1"/>
          <p:nvPr/>
        </p:nvSpPr>
        <p:spPr>
          <a:xfrm>
            <a:off x="311700" y="1395800"/>
            <a:ext cx="85206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Open Sans"/>
                <a:ea typeface="Open Sans"/>
                <a:cs typeface="Open Sans"/>
                <a:sym typeface="Open Sans"/>
              </a:rPr>
              <a:t>Idea:</a:t>
            </a:r>
            <a:r>
              <a:rPr lang="it">
                <a:latin typeface="Open Sans"/>
                <a:ea typeface="Open Sans"/>
                <a:cs typeface="Open Sans"/>
                <a:sym typeface="Open Sans"/>
              </a:rPr>
              <a:t> data una chiave k, se lo slot A[h(k)] è occupato, allora bisogna </a:t>
            </a:r>
            <a:r>
              <a:rPr b="1" lang="it">
                <a:latin typeface="Open Sans"/>
                <a:ea typeface="Open Sans"/>
                <a:cs typeface="Open Sans"/>
                <a:sym typeface="Open Sans"/>
              </a:rPr>
              <a:t>ricercare</a:t>
            </a:r>
            <a:r>
              <a:rPr lang="it">
                <a:latin typeface="Open Sans"/>
                <a:ea typeface="Open Sans"/>
                <a:cs typeface="Open Sans"/>
                <a:sym typeface="Open Sans"/>
              </a:rPr>
              <a:t> (probing) nella tabella </a:t>
            </a:r>
            <a:r>
              <a:rPr lang="it">
                <a:latin typeface="Open Sans"/>
                <a:ea typeface="Open Sans"/>
                <a:cs typeface="Open Sans"/>
                <a:sym typeface="Open Sans"/>
              </a:rPr>
              <a:t>finché</a:t>
            </a:r>
            <a:r>
              <a:rPr lang="it">
                <a:latin typeface="Open Sans"/>
                <a:ea typeface="Open Sans"/>
                <a:cs typeface="Open Sans"/>
                <a:sym typeface="Open Sans"/>
              </a:rPr>
              <a:t> non si trova uno slot libero</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Per determinare </a:t>
            </a:r>
            <a:r>
              <a:rPr b="1" lang="it">
                <a:latin typeface="Open Sans"/>
                <a:ea typeface="Open Sans"/>
                <a:cs typeface="Open Sans"/>
                <a:sym typeface="Open Sans"/>
              </a:rPr>
              <a:t>quale</a:t>
            </a:r>
            <a:r>
              <a:rPr lang="it">
                <a:latin typeface="Open Sans"/>
                <a:ea typeface="Open Sans"/>
                <a:cs typeface="Open Sans"/>
                <a:sym typeface="Open Sans"/>
              </a:rPr>
              <a:t> slot è il prossimo sui cui fare probing bisogna estendere la </a:t>
            </a:r>
            <a:r>
              <a:rPr b="1" lang="it">
                <a:latin typeface="Open Sans"/>
                <a:ea typeface="Open Sans"/>
                <a:cs typeface="Open Sans"/>
                <a:sym typeface="Open Sans"/>
              </a:rPr>
              <a:t>hash function</a:t>
            </a:r>
            <a:r>
              <a:rPr lang="it">
                <a:latin typeface="Open Sans"/>
                <a:ea typeface="Open Sans"/>
                <a:cs typeface="Open Sans"/>
                <a:sym typeface="Open Sans"/>
              </a:rPr>
              <a:t> così che prenda come parametro anche il </a:t>
            </a:r>
            <a:r>
              <a:rPr b="1" lang="it">
                <a:latin typeface="Open Sans"/>
                <a:ea typeface="Open Sans"/>
                <a:cs typeface="Open Sans"/>
                <a:sym typeface="Open Sans"/>
              </a:rPr>
              <a:t>probing step</a:t>
            </a:r>
            <a:r>
              <a:rPr lang="it">
                <a:latin typeface="Open Sans"/>
                <a:ea typeface="Open Sans"/>
                <a:cs typeface="Open Sans"/>
                <a:sym typeface="Open Sans"/>
              </a:rPr>
              <a:t> (cioè quale sarà il successivo da analizzare)</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estendendosi diventa</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DEVE essere una permutazione degli indici delle tabelle, in cui:</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ogni slot deve essere visionato al massimo una volta</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potrebbe essere necessario analizzare </a:t>
            </a:r>
            <a:r>
              <a:rPr b="1" lang="it">
                <a:latin typeface="Open Sans"/>
                <a:ea typeface="Open Sans"/>
                <a:cs typeface="Open Sans"/>
                <a:sym typeface="Open Sans"/>
              </a:rPr>
              <a:t>tutti </a:t>
            </a:r>
            <a:r>
              <a:rPr lang="it">
                <a:latin typeface="Open Sans"/>
                <a:ea typeface="Open Sans"/>
                <a:cs typeface="Open Sans"/>
                <a:sym typeface="Open Sans"/>
              </a:rPr>
              <a:t>gli slot </a:t>
            </a:r>
            <a:r>
              <a:rPr b="1" lang="it">
                <a:latin typeface="Open Sans"/>
                <a:ea typeface="Open Sans"/>
                <a:cs typeface="Open Sans"/>
                <a:sym typeface="Open Sans"/>
              </a:rPr>
              <a:t>m</a:t>
            </a:r>
            <a:endParaRPr b="1">
              <a:latin typeface="Open Sans"/>
              <a:ea typeface="Open Sans"/>
              <a:cs typeface="Open Sans"/>
              <a:sym typeface="Open Sans"/>
            </a:endParaRPr>
          </a:p>
        </p:txBody>
      </p:sp>
      <p:pic>
        <p:nvPicPr>
          <p:cNvPr id="209" name="Google Shape;209;g229b5aeecb9_0_12"/>
          <p:cNvPicPr preferRelativeResize="0"/>
          <p:nvPr/>
        </p:nvPicPr>
        <p:blipFill>
          <a:blip r:embed="rId3">
            <a:alphaModFix/>
          </a:blip>
          <a:stretch>
            <a:fillRect/>
          </a:stretch>
        </p:blipFill>
        <p:spPr>
          <a:xfrm>
            <a:off x="2710575" y="2733295"/>
            <a:ext cx="3722851" cy="418125"/>
          </a:xfrm>
          <a:prstGeom prst="rect">
            <a:avLst/>
          </a:prstGeom>
          <a:noFill/>
          <a:ln>
            <a:noFill/>
          </a:ln>
        </p:spPr>
      </p:pic>
      <p:pic>
        <p:nvPicPr>
          <p:cNvPr id="210" name="Google Shape;210;g229b5aeecb9_0_12"/>
          <p:cNvPicPr preferRelativeResize="0"/>
          <p:nvPr/>
        </p:nvPicPr>
        <p:blipFill>
          <a:blip r:embed="rId4">
            <a:alphaModFix/>
          </a:blip>
          <a:stretch>
            <a:fillRect/>
          </a:stretch>
        </p:blipFill>
        <p:spPr>
          <a:xfrm>
            <a:off x="2322150" y="3395750"/>
            <a:ext cx="4499700" cy="505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29b5aeecb9_0_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Pseudocodice: Open Addressing</a:t>
            </a:r>
            <a:endParaRPr b="1"/>
          </a:p>
        </p:txBody>
      </p:sp>
      <p:pic>
        <p:nvPicPr>
          <p:cNvPr id="216" name="Google Shape;216;g229b5aeecb9_0_20"/>
          <p:cNvPicPr preferRelativeResize="0"/>
          <p:nvPr/>
        </p:nvPicPr>
        <p:blipFill>
          <a:blip r:embed="rId3">
            <a:alphaModFix/>
          </a:blip>
          <a:stretch>
            <a:fillRect/>
          </a:stretch>
        </p:blipFill>
        <p:spPr>
          <a:xfrm>
            <a:off x="413150" y="1275925"/>
            <a:ext cx="3878087" cy="3691472"/>
          </a:xfrm>
          <a:prstGeom prst="rect">
            <a:avLst/>
          </a:prstGeom>
          <a:noFill/>
          <a:ln>
            <a:noFill/>
          </a:ln>
        </p:spPr>
      </p:pic>
      <p:sp>
        <p:nvSpPr>
          <p:cNvPr id="217" name="Google Shape;217;g229b5aeecb9_0_20"/>
          <p:cNvSpPr txBox="1"/>
          <p:nvPr/>
        </p:nvSpPr>
        <p:spPr>
          <a:xfrm>
            <a:off x="4469525" y="1330675"/>
            <a:ext cx="4703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Open Sans"/>
                <a:ea typeface="Open Sans"/>
                <a:cs typeface="Open Sans"/>
                <a:sym typeface="Open Sans"/>
              </a:rPr>
              <a:t>ATTENZIONE: </a:t>
            </a:r>
            <a:r>
              <a:rPr lang="it">
                <a:latin typeface="Open Sans"/>
                <a:ea typeface="Open Sans"/>
                <a:cs typeface="Open Sans"/>
                <a:sym typeface="Open Sans"/>
              </a:rPr>
              <a:t>potrebbe esserci un problema.</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Come gestire l’eliminazione?</a:t>
            </a:r>
            <a:endParaRPr>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229b5aeecb9_0_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it"/>
              <a:t>Pseudocodice: Open Addressing - eliminazione</a:t>
            </a:r>
            <a:endParaRPr b="1"/>
          </a:p>
        </p:txBody>
      </p:sp>
      <p:pic>
        <p:nvPicPr>
          <p:cNvPr id="223" name="Google Shape;223;g229b5aeecb9_0_29"/>
          <p:cNvPicPr preferRelativeResize="0"/>
          <p:nvPr/>
        </p:nvPicPr>
        <p:blipFill>
          <a:blip r:embed="rId3">
            <a:alphaModFix/>
          </a:blip>
          <a:stretch>
            <a:fillRect/>
          </a:stretch>
        </p:blipFill>
        <p:spPr>
          <a:xfrm>
            <a:off x="1682350" y="1147225"/>
            <a:ext cx="5779292" cy="2676725"/>
          </a:xfrm>
          <a:prstGeom prst="rect">
            <a:avLst/>
          </a:prstGeom>
          <a:noFill/>
          <a:ln>
            <a:noFill/>
          </a:ln>
        </p:spPr>
      </p:pic>
      <p:sp>
        <p:nvSpPr>
          <p:cNvPr id="224" name="Google Shape;224;g229b5aeecb9_0_29"/>
          <p:cNvSpPr txBox="1"/>
          <p:nvPr/>
        </p:nvSpPr>
        <p:spPr>
          <a:xfrm>
            <a:off x="475600" y="4020925"/>
            <a:ext cx="8177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Invece di usare NILL (che viene cercato), marchiamo uno slot come “DELETED”, quindi sarà uno slot occupato ma che può essere sovrascritto!</a:t>
            </a:r>
            <a:endParaRPr>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29b5aeecb9_0_37"/>
          <p:cNvSpPr txBox="1"/>
          <p:nvPr>
            <p:ph type="title"/>
          </p:nvPr>
        </p:nvSpPr>
        <p:spPr>
          <a:xfrm>
            <a:off x="311700" y="346975"/>
            <a:ext cx="8365200" cy="67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it"/>
              <a:t>Open Addressing - inserimento aggiornato</a:t>
            </a:r>
            <a:endParaRPr b="1"/>
          </a:p>
        </p:txBody>
      </p:sp>
      <p:pic>
        <p:nvPicPr>
          <p:cNvPr id="230" name="Google Shape;230;g229b5aeecb9_0_37"/>
          <p:cNvPicPr preferRelativeResize="0"/>
          <p:nvPr/>
        </p:nvPicPr>
        <p:blipFill>
          <a:blip r:embed="rId3">
            <a:alphaModFix/>
          </a:blip>
          <a:stretch>
            <a:fillRect/>
          </a:stretch>
        </p:blipFill>
        <p:spPr>
          <a:xfrm>
            <a:off x="797875" y="1147225"/>
            <a:ext cx="7548241" cy="36914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229b5aeecb9_0_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it"/>
              <a:t>Analisi dei costi: open addressing</a:t>
            </a:r>
            <a:endParaRPr b="1"/>
          </a:p>
        </p:txBody>
      </p:sp>
      <p:sp>
        <p:nvSpPr>
          <p:cNvPr id="236" name="Google Shape;236;g229b5aeecb9_0_44"/>
          <p:cNvSpPr txBox="1"/>
          <p:nvPr/>
        </p:nvSpPr>
        <p:spPr>
          <a:xfrm>
            <a:off x="301850" y="1207425"/>
            <a:ext cx="84447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600">
                <a:latin typeface="Open Sans"/>
                <a:ea typeface="Open Sans"/>
                <a:cs typeface="Open Sans"/>
                <a:sym typeface="Open Sans"/>
              </a:rPr>
              <a:t>Quali sono i worst case scenarios di RICERCA, INSERIMENTO e CANCELLAZIONE? </a:t>
            </a:r>
            <a:r>
              <a:rPr b="1" lang="it" sz="1600">
                <a:latin typeface="Open Sans"/>
                <a:ea typeface="Open Sans"/>
                <a:cs typeface="Open Sans"/>
                <a:sym typeface="Open Sans"/>
              </a:rPr>
              <a:t>O(m)</a:t>
            </a:r>
            <a:r>
              <a:rPr lang="it" sz="1600">
                <a:latin typeface="Open Sans"/>
                <a:ea typeface="Open Sans"/>
                <a:cs typeface="Open Sans"/>
                <a:sym typeface="Open Sans"/>
              </a:rPr>
              <a:t> </a:t>
            </a:r>
            <a:endParaRPr sz="1600">
              <a:latin typeface="Open Sans"/>
              <a:ea typeface="Open Sans"/>
              <a:cs typeface="Open Sans"/>
              <a:sym typeface="Open Sans"/>
            </a:endParaRPr>
          </a:p>
          <a:p>
            <a:pPr indent="0" lvl="0" marL="0" rtl="0" algn="l">
              <a:spcBef>
                <a:spcPts val="0"/>
              </a:spcBef>
              <a:spcAft>
                <a:spcPts val="0"/>
              </a:spcAft>
              <a:buNone/>
            </a:pPr>
            <a:r>
              <a:rPr lang="it" sz="1600">
                <a:latin typeface="Open Sans"/>
                <a:ea typeface="Open Sans"/>
                <a:cs typeface="Open Sans"/>
                <a:sym typeface="Open Sans"/>
              </a:rPr>
              <a:t>DOVE:</a:t>
            </a:r>
            <a:endParaRPr sz="1600">
              <a:latin typeface="Open Sans"/>
              <a:ea typeface="Open Sans"/>
              <a:cs typeface="Open Sans"/>
              <a:sym typeface="Open Sans"/>
            </a:endParaRPr>
          </a:p>
          <a:p>
            <a:pPr indent="-330200" lvl="0" marL="457200" rtl="0" algn="l">
              <a:spcBef>
                <a:spcPts val="0"/>
              </a:spcBef>
              <a:spcAft>
                <a:spcPts val="0"/>
              </a:spcAft>
              <a:buSzPts val="1600"/>
              <a:buFont typeface="Open Sans"/>
              <a:buChar char="-"/>
            </a:pPr>
            <a:r>
              <a:rPr lang="it" sz="1600">
                <a:latin typeface="Open Sans"/>
                <a:ea typeface="Open Sans"/>
                <a:cs typeface="Open Sans"/>
                <a:sym typeface="Open Sans"/>
              </a:rPr>
              <a:t>m = dimensione della tabella</a:t>
            </a:r>
            <a:endParaRPr sz="1600">
              <a:latin typeface="Open Sans"/>
              <a:ea typeface="Open Sans"/>
              <a:cs typeface="Open Sans"/>
              <a:sym typeface="Open Sans"/>
            </a:endParaRPr>
          </a:p>
          <a:p>
            <a:pPr indent="0" lvl="0" marL="0" rtl="0" algn="l">
              <a:spcBef>
                <a:spcPts val="0"/>
              </a:spcBef>
              <a:spcAft>
                <a:spcPts val="0"/>
              </a:spcAft>
              <a:buNone/>
            </a:pPr>
            <a:r>
              <a:t/>
            </a:r>
            <a:endParaRPr sz="1600">
              <a:latin typeface="Open Sans"/>
              <a:ea typeface="Open Sans"/>
              <a:cs typeface="Open Sans"/>
              <a:sym typeface="Open Sans"/>
            </a:endParaRPr>
          </a:p>
          <a:p>
            <a:pPr indent="0" lvl="0" marL="0" rtl="0" algn="l">
              <a:spcBef>
                <a:spcPts val="0"/>
              </a:spcBef>
              <a:spcAft>
                <a:spcPts val="0"/>
              </a:spcAft>
              <a:buNone/>
            </a:pPr>
            <a:r>
              <a:rPr lang="it" sz="1600">
                <a:latin typeface="Open Sans"/>
                <a:ea typeface="Open Sans"/>
                <a:cs typeface="Open Sans"/>
                <a:sym typeface="Open Sans"/>
              </a:rPr>
              <a:t>Quali sono gli average-case scenarios?</a:t>
            </a:r>
            <a:endParaRPr sz="1600">
              <a:latin typeface="Open Sans"/>
              <a:ea typeface="Open Sans"/>
              <a:cs typeface="Open Sans"/>
              <a:sym typeface="Open Sans"/>
            </a:endParaRPr>
          </a:p>
          <a:p>
            <a:pPr indent="-330200" lvl="0" marL="457200" rtl="0" algn="l">
              <a:spcBef>
                <a:spcPts val="0"/>
              </a:spcBef>
              <a:spcAft>
                <a:spcPts val="0"/>
              </a:spcAft>
              <a:buSzPts val="1600"/>
              <a:buFont typeface="Open Sans"/>
              <a:buChar char="-"/>
            </a:pPr>
            <a:r>
              <a:rPr b="1" lang="it" sz="1600">
                <a:latin typeface="Open Sans"/>
                <a:ea typeface="Open Sans"/>
                <a:cs typeface="Open Sans"/>
                <a:sym typeface="Open Sans"/>
              </a:rPr>
              <a:t>dipende dalla strategia di probing</a:t>
            </a:r>
            <a:endParaRPr b="1" sz="1600">
              <a:latin typeface="Open Sans"/>
              <a:ea typeface="Open Sans"/>
              <a:cs typeface="Open Sans"/>
              <a:sym typeface="Open Sans"/>
            </a:endParaRPr>
          </a:p>
          <a:p>
            <a:pPr indent="-330200" lvl="0" marL="457200" rtl="0" algn="l">
              <a:spcBef>
                <a:spcPts val="0"/>
              </a:spcBef>
              <a:spcAft>
                <a:spcPts val="0"/>
              </a:spcAft>
              <a:buSzPts val="1600"/>
              <a:buFont typeface="Open Sans"/>
              <a:buChar char="-"/>
            </a:pPr>
            <a:r>
              <a:rPr b="1" lang="it" sz="1600">
                <a:latin typeface="Open Sans"/>
                <a:ea typeface="Open Sans"/>
                <a:cs typeface="Open Sans"/>
                <a:sym typeface="Open Sans"/>
              </a:rPr>
              <a:t>assumendo la simple uniform hashing, </a:t>
            </a:r>
            <a:r>
              <a:rPr lang="it" sz="1600">
                <a:latin typeface="Open Sans"/>
                <a:ea typeface="Open Sans"/>
                <a:cs typeface="Open Sans"/>
                <a:sym typeface="Open Sans"/>
              </a:rPr>
              <a:t>abbiamo 3 strategie di probing:</a:t>
            </a:r>
            <a:endParaRPr sz="1600">
              <a:latin typeface="Open Sans"/>
              <a:ea typeface="Open Sans"/>
              <a:cs typeface="Open Sans"/>
              <a:sym typeface="Open Sans"/>
            </a:endParaRPr>
          </a:p>
          <a:p>
            <a:pPr indent="-330200" lvl="1" marL="914400" rtl="0" algn="l">
              <a:spcBef>
                <a:spcPts val="0"/>
              </a:spcBef>
              <a:spcAft>
                <a:spcPts val="0"/>
              </a:spcAft>
              <a:buSzPts val="1600"/>
              <a:buFont typeface="Open Sans"/>
              <a:buChar char="-"/>
            </a:pPr>
            <a:r>
              <a:rPr lang="it" sz="1600">
                <a:latin typeface="Open Sans"/>
                <a:ea typeface="Open Sans"/>
                <a:cs typeface="Open Sans"/>
                <a:sym typeface="Open Sans"/>
              </a:rPr>
              <a:t>ispezione lineare</a:t>
            </a:r>
            <a:endParaRPr sz="1600">
              <a:latin typeface="Open Sans"/>
              <a:ea typeface="Open Sans"/>
              <a:cs typeface="Open Sans"/>
              <a:sym typeface="Open Sans"/>
            </a:endParaRPr>
          </a:p>
          <a:p>
            <a:pPr indent="-330200" lvl="1" marL="914400" rtl="0" algn="l">
              <a:spcBef>
                <a:spcPts val="0"/>
              </a:spcBef>
              <a:spcAft>
                <a:spcPts val="0"/>
              </a:spcAft>
              <a:buSzPts val="1600"/>
              <a:buFont typeface="Open Sans"/>
              <a:buChar char="-"/>
            </a:pPr>
            <a:r>
              <a:rPr lang="it" sz="1600">
                <a:latin typeface="Open Sans"/>
                <a:ea typeface="Open Sans"/>
                <a:cs typeface="Open Sans"/>
                <a:sym typeface="Open Sans"/>
              </a:rPr>
              <a:t>ispezione quadratica</a:t>
            </a:r>
            <a:endParaRPr sz="1600">
              <a:latin typeface="Open Sans"/>
              <a:ea typeface="Open Sans"/>
              <a:cs typeface="Open Sans"/>
              <a:sym typeface="Open Sans"/>
            </a:endParaRPr>
          </a:p>
          <a:p>
            <a:pPr indent="-330200" lvl="1" marL="914400" rtl="0" algn="l">
              <a:spcBef>
                <a:spcPts val="0"/>
              </a:spcBef>
              <a:spcAft>
                <a:spcPts val="0"/>
              </a:spcAft>
              <a:buSzPts val="1600"/>
              <a:buFont typeface="Open Sans"/>
              <a:buChar char="-"/>
            </a:pPr>
            <a:r>
              <a:rPr lang="it" sz="1600">
                <a:latin typeface="Open Sans"/>
                <a:ea typeface="Open Sans"/>
                <a:cs typeface="Open Sans"/>
                <a:sym typeface="Open Sans"/>
              </a:rPr>
              <a:t>hashing doppia</a:t>
            </a:r>
            <a:endParaRPr sz="1600">
              <a:latin typeface="Open Sans"/>
              <a:ea typeface="Open Sans"/>
              <a:cs typeface="Open Sans"/>
              <a:sym typeface="Open Sans"/>
            </a:endParaRPr>
          </a:p>
          <a:p>
            <a:pPr indent="0" lvl="0" marL="0" rtl="0" algn="l">
              <a:spcBef>
                <a:spcPts val="0"/>
              </a:spcBef>
              <a:spcAft>
                <a:spcPts val="0"/>
              </a:spcAft>
              <a:buNone/>
            </a:pPr>
            <a:r>
              <a:t/>
            </a:r>
            <a:endParaRPr sz="1600">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29dae4a1b9_0_0"/>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Strategie di probing: Ispezione lineare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229dae4a1b9_0_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Strategie di probing: Ispezione lineare</a:t>
            </a:r>
            <a:endParaRPr b="1"/>
          </a:p>
        </p:txBody>
      </p:sp>
      <p:sp>
        <p:nvSpPr>
          <p:cNvPr id="247" name="Google Shape;247;g229dae4a1b9_0_4"/>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pic>
        <p:nvPicPr>
          <p:cNvPr id="248" name="Google Shape;248;g229dae4a1b9_0_4"/>
          <p:cNvPicPr preferRelativeResize="0"/>
          <p:nvPr/>
        </p:nvPicPr>
        <p:blipFill>
          <a:blip r:embed="rId3">
            <a:alphaModFix/>
          </a:blip>
          <a:stretch>
            <a:fillRect/>
          </a:stretch>
        </p:blipFill>
        <p:spPr>
          <a:xfrm>
            <a:off x="1797575" y="1207425"/>
            <a:ext cx="5105400" cy="876300"/>
          </a:xfrm>
          <a:prstGeom prst="rect">
            <a:avLst/>
          </a:prstGeom>
          <a:noFill/>
          <a:ln>
            <a:noFill/>
          </a:ln>
        </p:spPr>
      </p:pic>
      <p:sp>
        <p:nvSpPr>
          <p:cNvPr id="249" name="Google Shape;249;g229dae4a1b9_0_4"/>
          <p:cNvSpPr txBox="1"/>
          <p:nvPr/>
        </p:nvSpPr>
        <p:spPr>
          <a:xfrm>
            <a:off x="409875" y="2350150"/>
            <a:ext cx="7345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Dove h’(k) è una funzione di hashing ausiliaria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b="1" lang="it">
                <a:latin typeface="Open Sans"/>
                <a:ea typeface="Open Sans"/>
                <a:cs typeface="Open Sans"/>
                <a:sym typeface="Open Sans"/>
              </a:rPr>
              <a:t>Se accade una collisione, ispeziona l’elemento successivo dell’ array A</a:t>
            </a:r>
            <a:endParaRPr b="1">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il primo indice h’(k) determina l’intera sequenza di probing</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b="1" lang="it" u="sng">
                <a:latin typeface="Open Sans"/>
                <a:ea typeface="Open Sans"/>
                <a:cs typeface="Open Sans"/>
                <a:sym typeface="Open Sans"/>
              </a:rPr>
              <a:t>potrebbero crearsi clustering di probing importanti, aumentandone il tempo di accesso! </a:t>
            </a:r>
            <a:endParaRPr b="1" u="sng">
              <a:latin typeface="Open Sans"/>
              <a:ea typeface="Open Sans"/>
              <a:cs typeface="Open Sans"/>
              <a:sym typeface="Open Sans"/>
            </a:endParaRPr>
          </a:p>
          <a:p>
            <a:pPr indent="0" lvl="0" marL="0" rtl="0" algn="l">
              <a:spcBef>
                <a:spcPts val="0"/>
              </a:spcBef>
              <a:spcAft>
                <a:spcPts val="0"/>
              </a:spcAft>
              <a:buNone/>
            </a:pPr>
            <a:r>
              <a:t/>
            </a:r>
            <a:endParaRPr b="1" u="sng">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29dae4a1b9_0_1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Strategie di probing: Ispezione lineare</a:t>
            </a:r>
            <a:endParaRPr b="1"/>
          </a:p>
        </p:txBody>
      </p:sp>
      <p:sp>
        <p:nvSpPr>
          <p:cNvPr id="255" name="Google Shape;255;g229dae4a1b9_0_11"/>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pic>
        <p:nvPicPr>
          <p:cNvPr id="256" name="Google Shape;256;g229dae4a1b9_0_11"/>
          <p:cNvPicPr preferRelativeResize="0"/>
          <p:nvPr/>
        </p:nvPicPr>
        <p:blipFill>
          <a:blip r:embed="rId3">
            <a:alphaModFix/>
          </a:blip>
          <a:stretch>
            <a:fillRect/>
          </a:stretch>
        </p:blipFill>
        <p:spPr>
          <a:xfrm>
            <a:off x="1784715" y="1147225"/>
            <a:ext cx="5574575" cy="38067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29dae4a1b9_0_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Strategie di probing: Ispezione lineare</a:t>
            </a:r>
            <a:endParaRPr b="1"/>
          </a:p>
        </p:txBody>
      </p:sp>
      <p:sp>
        <p:nvSpPr>
          <p:cNvPr id="262" name="Google Shape;262;g229dae4a1b9_0_19"/>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pic>
        <p:nvPicPr>
          <p:cNvPr id="263" name="Google Shape;263;g229dae4a1b9_0_19"/>
          <p:cNvPicPr preferRelativeResize="0"/>
          <p:nvPr/>
        </p:nvPicPr>
        <p:blipFill>
          <a:blip r:embed="rId3">
            <a:alphaModFix/>
          </a:blip>
          <a:stretch>
            <a:fillRect/>
          </a:stretch>
        </p:blipFill>
        <p:spPr>
          <a:xfrm>
            <a:off x="1886475" y="1147225"/>
            <a:ext cx="5371051" cy="37571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29dae4a1b9_0_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Strategie di probing: Ispezione quadratica</a:t>
            </a:r>
            <a:endParaRPr b="1"/>
          </a:p>
        </p:txBody>
      </p:sp>
      <p:sp>
        <p:nvSpPr>
          <p:cNvPr id="269" name="Google Shape;269;g229dae4a1b9_0_32"/>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pic>
        <p:nvPicPr>
          <p:cNvPr id="270" name="Google Shape;270;g229dae4a1b9_0_32"/>
          <p:cNvPicPr preferRelativeResize="0"/>
          <p:nvPr/>
        </p:nvPicPr>
        <p:blipFill>
          <a:blip r:embed="rId3">
            <a:alphaModFix/>
          </a:blip>
          <a:stretch>
            <a:fillRect/>
          </a:stretch>
        </p:blipFill>
        <p:spPr>
          <a:xfrm>
            <a:off x="152400" y="1108925"/>
            <a:ext cx="8839199" cy="628089"/>
          </a:xfrm>
          <a:prstGeom prst="rect">
            <a:avLst/>
          </a:prstGeom>
          <a:noFill/>
          <a:ln>
            <a:noFill/>
          </a:ln>
        </p:spPr>
      </p:pic>
      <p:sp>
        <p:nvSpPr>
          <p:cNvPr id="271" name="Google Shape;271;g229dae4a1b9_0_32"/>
          <p:cNvSpPr txBox="1"/>
          <p:nvPr/>
        </p:nvSpPr>
        <p:spPr>
          <a:xfrm>
            <a:off x="460875" y="1891025"/>
            <a:ext cx="8285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Nel caso in cui si dovesse verificare una collisione, si utilizza uno step quadratico per selezionare il successivo slot libero:</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it">
                <a:latin typeface="Open Sans"/>
                <a:ea typeface="Open Sans"/>
                <a:cs typeface="Open Sans"/>
                <a:sym typeface="Open Sans"/>
              </a:rPr>
              <a:t>definito h’(k) il primo indice che determina tutta la sequenza di probing, le successive ispezioni hanno un offsett che dipende dalla funzione quadratica sullo step </a:t>
            </a:r>
            <a:r>
              <a:rPr b="1" lang="it">
                <a:latin typeface="Open Sans"/>
                <a:ea typeface="Open Sans"/>
                <a:cs typeface="Open Sans"/>
                <a:sym typeface="Open Sans"/>
              </a:rPr>
              <a:t>i</a:t>
            </a:r>
            <a:endParaRPr b="1">
              <a:latin typeface="Open Sans"/>
              <a:ea typeface="Open Sans"/>
              <a:cs typeface="Open Sans"/>
              <a:sym typeface="Open Sans"/>
            </a:endParaRPr>
          </a:p>
          <a:p>
            <a:pPr indent="0" lvl="0" marL="0" rtl="0" algn="l">
              <a:spcBef>
                <a:spcPts val="0"/>
              </a:spcBef>
              <a:spcAft>
                <a:spcPts val="0"/>
              </a:spcAft>
              <a:buNone/>
            </a:pPr>
            <a:r>
              <a:rPr b="1" lang="it">
                <a:latin typeface="Open Sans"/>
                <a:ea typeface="Open Sans"/>
                <a:cs typeface="Open Sans"/>
                <a:sym typeface="Open Sans"/>
              </a:rPr>
              <a:t>N.B. c1, c2 devono garantire una permutazione di [0, …, m-1]</a:t>
            </a:r>
            <a:endParaRPr b="1">
              <a:latin typeface="Open Sans"/>
              <a:ea typeface="Open Sans"/>
              <a:cs typeface="Open Sans"/>
              <a:sym typeface="Open Sans"/>
            </a:endParaRPr>
          </a:p>
          <a:p>
            <a:pPr indent="0" lvl="0" marL="0" rtl="0" algn="l">
              <a:spcBef>
                <a:spcPts val="0"/>
              </a:spcBef>
              <a:spcAft>
                <a:spcPts val="0"/>
              </a:spcAft>
              <a:buNone/>
            </a:pPr>
            <a:r>
              <a:t/>
            </a:r>
            <a:endParaRPr b="1">
              <a:latin typeface="Open Sans"/>
              <a:ea typeface="Open Sans"/>
              <a:cs typeface="Open Sans"/>
              <a:sym typeface="Open Sans"/>
            </a:endParaRPr>
          </a:p>
          <a:p>
            <a:pPr indent="0" lvl="0" marL="0" rtl="0" algn="l">
              <a:spcBef>
                <a:spcPts val="0"/>
              </a:spcBef>
              <a:spcAft>
                <a:spcPts val="0"/>
              </a:spcAft>
              <a:buNone/>
            </a:pPr>
            <a:r>
              <a:rPr b="1" lang="it">
                <a:latin typeface="Open Sans"/>
                <a:ea typeface="Open Sans"/>
                <a:cs typeface="Open Sans"/>
                <a:sym typeface="Open Sans"/>
              </a:rPr>
              <a:t>PROBLEMA:</a:t>
            </a:r>
            <a:endParaRPr b="1">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se due keys hanno l’indice iniziale uguale, la loro sequenza di probing è identica → </a:t>
            </a:r>
            <a:r>
              <a:rPr b="1" lang="it">
                <a:latin typeface="Open Sans"/>
                <a:ea typeface="Open Sans"/>
                <a:cs typeface="Open Sans"/>
                <a:sym typeface="Open Sans"/>
              </a:rPr>
              <a:t>clustering secondario</a:t>
            </a:r>
            <a:endParaRPr b="1">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229dae4a1b9_0_4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Strategie di probing: Ispezione quadratica</a:t>
            </a:r>
            <a:endParaRPr b="1"/>
          </a:p>
        </p:txBody>
      </p:sp>
      <p:sp>
        <p:nvSpPr>
          <p:cNvPr id="277" name="Google Shape;277;g229dae4a1b9_0_40"/>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pic>
        <p:nvPicPr>
          <p:cNvPr id="278" name="Google Shape;278;g229dae4a1b9_0_40"/>
          <p:cNvPicPr preferRelativeResize="0"/>
          <p:nvPr/>
        </p:nvPicPr>
        <p:blipFill>
          <a:blip r:embed="rId3">
            <a:alphaModFix/>
          </a:blip>
          <a:stretch>
            <a:fillRect/>
          </a:stretch>
        </p:blipFill>
        <p:spPr>
          <a:xfrm>
            <a:off x="1877975" y="1147225"/>
            <a:ext cx="5388049" cy="37896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29dae4a1b9_0_4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Strategie di probing: Ispezione con hashing doppia</a:t>
            </a:r>
            <a:endParaRPr b="1"/>
          </a:p>
        </p:txBody>
      </p:sp>
      <p:sp>
        <p:nvSpPr>
          <p:cNvPr id="284" name="Google Shape;284;g229dae4a1b9_0_47"/>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pic>
        <p:nvPicPr>
          <p:cNvPr id="285" name="Google Shape;285;g229dae4a1b9_0_47"/>
          <p:cNvPicPr preferRelativeResize="0"/>
          <p:nvPr/>
        </p:nvPicPr>
        <p:blipFill>
          <a:blip r:embed="rId3">
            <a:alphaModFix/>
          </a:blip>
          <a:stretch>
            <a:fillRect/>
          </a:stretch>
        </p:blipFill>
        <p:spPr>
          <a:xfrm>
            <a:off x="1839363" y="1147225"/>
            <a:ext cx="5369675" cy="3776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29dae4a1b9_0_61"/>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Load Factor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229dae4a1b9_0_5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Load Factor: definizione</a:t>
            </a:r>
            <a:endParaRPr b="1"/>
          </a:p>
        </p:txBody>
      </p:sp>
      <p:sp>
        <p:nvSpPr>
          <p:cNvPr id="296" name="Google Shape;296;g229dae4a1b9_0_55"/>
          <p:cNvSpPr txBox="1"/>
          <p:nvPr/>
        </p:nvSpPr>
        <p:spPr>
          <a:xfrm>
            <a:off x="301850" y="1207425"/>
            <a:ext cx="844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Open Sans"/>
              <a:ea typeface="Open Sans"/>
              <a:cs typeface="Open Sans"/>
              <a:sym typeface="Open Sans"/>
            </a:endParaRPr>
          </a:p>
        </p:txBody>
      </p:sp>
      <p:sp>
        <p:nvSpPr>
          <p:cNvPr id="297" name="Google Shape;297;g229dae4a1b9_0_55"/>
          <p:cNvSpPr txBox="1"/>
          <p:nvPr/>
        </p:nvSpPr>
        <p:spPr>
          <a:xfrm>
            <a:off x="486375" y="1304400"/>
            <a:ext cx="7345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Si definisce Load Factor</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il rapporto tra il numero di elementi di una Hash Table (</a:t>
            </a:r>
            <a:r>
              <a:rPr b="1" lang="it">
                <a:latin typeface="Open Sans"/>
                <a:ea typeface="Open Sans"/>
                <a:cs typeface="Open Sans"/>
                <a:sym typeface="Open Sans"/>
              </a:rPr>
              <a:t>n</a:t>
            </a:r>
            <a:r>
              <a:rPr lang="it">
                <a:latin typeface="Open Sans"/>
                <a:ea typeface="Open Sans"/>
                <a:cs typeface="Open Sans"/>
                <a:sym typeface="Open Sans"/>
              </a:rPr>
              <a:t>) e la sua dimensione (</a:t>
            </a:r>
            <a:r>
              <a:rPr b="1" lang="it">
                <a:latin typeface="Open Sans"/>
                <a:ea typeface="Open Sans"/>
                <a:cs typeface="Open Sans"/>
                <a:sym typeface="Open Sans"/>
              </a:rPr>
              <a:t>m</a:t>
            </a:r>
            <a:r>
              <a:rPr lang="it">
                <a:latin typeface="Open Sans"/>
                <a:ea typeface="Open Sans"/>
                <a:cs typeface="Open Sans"/>
                <a:sym typeface="Open Sans"/>
              </a:rPr>
              <a:t>)</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pic>
        <p:nvPicPr>
          <p:cNvPr id="298" name="Google Shape;298;g229dae4a1b9_0_55"/>
          <p:cNvPicPr preferRelativeResize="0"/>
          <p:nvPr/>
        </p:nvPicPr>
        <p:blipFill>
          <a:blip r:embed="rId3">
            <a:alphaModFix/>
          </a:blip>
          <a:stretch>
            <a:fillRect/>
          </a:stretch>
        </p:blipFill>
        <p:spPr>
          <a:xfrm>
            <a:off x="3321075" y="1494675"/>
            <a:ext cx="1676400" cy="514350"/>
          </a:xfrm>
          <a:prstGeom prst="rect">
            <a:avLst/>
          </a:prstGeom>
          <a:noFill/>
          <a:ln>
            <a:noFill/>
          </a:ln>
        </p:spPr>
      </p:pic>
      <p:sp>
        <p:nvSpPr>
          <p:cNvPr id="299" name="Google Shape;299;g229dae4a1b9_0_55"/>
          <p:cNvSpPr txBox="1"/>
          <p:nvPr/>
        </p:nvSpPr>
        <p:spPr>
          <a:xfrm>
            <a:off x="690425" y="2407575"/>
            <a:ext cx="734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800">
                <a:latin typeface="Open Sans"/>
                <a:ea typeface="Open Sans"/>
                <a:cs typeface="Open Sans"/>
                <a:sym typeface="Open Sans"/>
              </a:rPr>
              <a:t>Teoremi: ricerca con successo e ricerca senza successo</a:t>
            </a:r>
            <a:endParaRPr b="1" sz="1800">
              <a:latin typeface="Open Sans"/>
              <a:ea typeface="Open Sans"/>
              <a:cs typeface="Open Sans"/>
              <a:sym typeface="Open Sans"/>
            </a:endParaRPr>
          </a:p>
        </p:txBody>
      </p:sp>
      <p:sp>
        <p:nvSpPr>
          <p:cNvPr id="300" name="Google Shape;300;g229dae4a1b9_0_55"/>
          <p:cNvSpPr txBox="1"/>
          <p:nvPr/>
        </p:nvSpPr>
        <p:spPr>
          <a:xfrm>
            <a:off x="311150" y="2928313"/>
            <a:ext cx="8426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Sotto l’assunzione di una simple uniform hashing, una ricerca senza successo ed una ricerca con successo in cui le collisioni sono risolte con il metodo di </a:t>
            </a:r>
            <a:r>
              <a:rPr b="1" lang="it">
                <a:latin typeface="Open Sans"/>
                <a:ea typeface="Open Sans"/>
                <a:cs typeface="Open Sans"/>
                <a:sym typeface="Open Sans"/>
              </a:rPr>
              <a:t>Chaining </a:t>
            </a:r>
            <a:r>
              <a:rPr lang="it">
                <a:latin typeface="Open Sans"/>
                <a:ea typeface="Open Sans"/>
                <a:cs typeface="Open Sans"/>
                <a:sym typeface="Open Sans"/>
              </a:rPr>
              <a:t>richiedono un average - case di </a:t>
            </a:r>
            <a:r>
              <a:rPr b="1" lang="it">
                <a:latin typeface="Open Sans"/>
                <a:ea typeface="Open Sans"/>
                <a:cs typeface="Open Sans"/>
                <a:sym typeface="Open Sans"/>
              </a:rPr>
              <a:t>O(1/alfa)</a:t>
            </a:r>
            <a:endParaRPr b="1">
              <a:latin typeface="Open Sans"/>
              <a:ea typeface="Open Sans"/>
              <a:cs typeface="Open Sans"/>
              <a:sym typeface="Open Sans"/>
            </a:endParaRPr>
          </a:p>
        </p:txBody>
      </p:sp>
      <p:sp>
        <p:nvSpPr>
          <p:cNvPr id="301" name="Google Shape;301;g229dae4a1b9_0_55"/>
          <p:cNvSpPr txBox="1"/>
          <p:nvPr/>
        </p:nvSpPr>
        <p:spPr>
          <a:xfrm>
            <a:off x="311700" y="3759625"/>
            <a:ext cx="8311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Sotto l’assunzione di una simple uniform hashing, il numero di ispezioni di una ricerca senza successo in una Hash Table in cui le collisioni sono risolte con il metodo di open addressing ed un load factor alfa &lt; 1 è al più </a:t>
            </a:r>
            <a:r>
              <a:rPr b="1" lang="it">
                <a:latin typeface="Open Sans"/>
                <a:ea typeface="Open Sans"/>
                <a:cs typeface="Open Sans"/>
                <a:sym typeface="Open Sans"/>
              </a:rPr>
              <a:t>1/(1-alfa) </a:t>
            </a:r>
            <a:r>
              <a:rPr lang="it">
                <a:latin typeface="Open Sans"/>
                <a:ea typeface="Open Sans"/>
                <a:cs typeface="Open Sans"/>
                <a:sym typeface="Open Sans"/>
              </a:rPr>
              <a:t>per le ispezioni quadratica e a </a:t>
            </a:r>
            <a:r>
              <a:rPr lang="it">
                <a:latin typeface="Open Sans"/>
                <a:ea typeface="Open Sans"/>
                <a:cs typeface="Open Sans"/>
                <a:sym typeface="Open Sans"/>
              </a:rPr>
              <a:t>doppia</a:t>
            </a:r>
            <a:r>
              <a:rPr lang="it">
                <a:latin typeface="Open Sans"/>
                <a:ea typeface="Open Sans"/>
                <a:cs typeface="Open Sans"/>
                <a:sym typeface="Open Sans"/>
              </a:rPr>
              <a:t> hashing (</a:t>
            </a:r>
            <a:r>
              <a:rPr b="1" lang="it">
                <a:latin typeface="Open Sans"/>
                <a:ea typeface="Open Sans"/>
                <a:cs typeface="Open Sans"/>
                <a:sym typeface="Open Sans"/>
              </a:rPr>
              <a:t>1/alfa * ln (1 / (1-alfa) )</a:t>
            </a:r>
            <a:r>
              <a:rPr lang="it">
                <a:latin typeface="Open Sans"/>
                <a:ea typeface="Open Sans"/>
                <a:cs typeface="Open Sans"/>
                <a:sym typeface="Open Sans"/>
              </a:rPr>
              <a:t> per la ricerca senza successo</a:t>
            </a:r>
            <a:endParaRPr>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g229dae4a1b9_0_80"/>
          <p:cNvPicPr preferRelativeResize="0"/>
          <p:nvPr/>
        </p:nvPicPr>
        <p:blipFill>
          <a:blip r:embed="rId3">
            <a:alphaModFix/>
          </a:blip>
          <a:stretch>
            <a:fillRect/>
          </a:stretch>
        </p:blipFill>
        <p:spPr>
          <a:xfrm>
            <a:off x="152400" y="340500"/>
            <a:ext cx="8839198" cy="446250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229dae4a1b9_0_71"/>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In definitiva, tenere un </a:t>
            </a:r>
            <a:r>
              <a:rPr b="1" lang="it"/>
              <a:t>load factor</a:t>
            </a:r>
            <a:r>
              <a:rPr lang="it"/>
              <a:t> &lt; 0.75 è considerata la strategia ottimale.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g229dae4a1b9_0_75"/>
          <p:cNvPicPr preferRelativeResize="0"/>
          <p:nvPr/>
        </p:nvPicPr>
        <p:blipFill>
          <a:blip r:embed="rId3">
            <a:alphaModFix/>
          </a:blip>
          <a:stretch>
            <a:fillRect/>
          </a:stretch>
        </p:blipFill>
        <p:spPr>
          <a:xfrm>
            <a:off x="152400" y="1605875"/>
            <a:ext cx="8839199" cy="239226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