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Economica"/>
      <p:regular r:id="rId31"/>
      <p:bold r:id="rId32"/>
      <p:italic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62">
          <p15:clr>
            <a:srgbClr val="A4A3A4"/>
          </p15:clr>
        </p15:guide>
        <p15:guide id="2" pos="2880">
          <p15:clr>
            <a:srgbClr val="A4A3A4"/>
          </p15:clr>
        </p15:guide>
      </p15:sldGuideLst>
    </p:ext>
    <p:ext uri="http://customooxmlschemas.google.com/">
      <go:slidesCustomData xmlns:go="http://customooxmlschemas.google.com/" r:id="rId39" roundtripDataSignature="AMtx7mibVMEdAXGcfJwA+FN/oxd2f6CF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B2FC42-F7E4-4284-86EE-E2919AEC0C97}">
  <a:tblStyle styleId="{E0B2FC42-F7E4-4284-86EE-E2919AEC0C9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7B88B6A-FFA3-40F0-9FBC-E92B73532A5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62"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Economica-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Economica-italic.fntdata"/><Relationship Id="rId10" Type="http://schemas.openxmlformats.org/officeDocument/2006/relationships/slide" Target="slides/slide4.xml"/><Relationship Id="rId32" Type="http://schemas.openxmlformats.org/officeDocument/2006/relationships/font" Target="fonts/Economica-bold.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Economica-boldItalic.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10cb77d1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10cb77d1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10cb77d1f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10cb77d1f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10cb77d1f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10cb77d1f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10cb77d1f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10cb77d1f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10cb77d1f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10cb77d1f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10cb77d1f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10cb77d1f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12205bfb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12205bfbf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12205bfbf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212205bfbf8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12205bfbf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12205bfbf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12205bfbf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12205bfbf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12205bfbf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12205bfbf8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12205bfbf8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12205bfbf8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12205bfbf8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12205bfbf8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12205bfbf8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12205bfbf8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12205bfbf8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12205bfbf8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12205bfbf8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12205bfbf8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12205bfbf8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12205bfbf8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12205bfbf8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12205bfbf8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5"/>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5"/>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5"/>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3" name="Google Shape;13;p25"/>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8" name="Google Shape;18;p2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27"/>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2" name="Google Shape;22;p27"/>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3" name="Google Shape;23;p27"/>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4" name="Google Shape;2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2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27" name="Google Shape;27;p28"/>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28"/>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2" name="Google Shape;3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p30"/>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3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1"/>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32"/>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 name="Google Shape;43;p32"/>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32"/>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45" name="Google Shape;45;p32"/>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3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7" name="Google Shape;4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33"/>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3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34"/>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2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it"/>
              <a:t>Cenni di Algoritmi e Strutture Dati</a:t>
            </a:r>
            <a:endParaRPr/>
          </a:p>
        </p:txBody>
      </p:sp>
      <p:sp>
        <p:nvSpPr>
          <p:cNvPr id="63" name="Google Shape;63;p1"/>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lang="it"/>
              <a:t>Lezione 3 - Stack e Queue</a:t>
            </a:r>
            <a:endParaRPr/>
          </a:p>
        </p:txBody>
      </p:sp>
      <p:sp>
        <p:nvSpPr>
          <p:cNvPr id="64" name="Google Shape;64;p1"/>
          <p:cNvSpPr txBox="1"/>
          <p:nvPr>
            <p:ph idx="1" type="subTitle"/>
          </p:nvPr>
        </p:nvSpPr>
        <p:spPr>
          <a:xfrm>
            <a:off x="311700" y="4461300"/>
            <a:ext cx="8520600" cy="4638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i="1" lang="it" sz="1500"/>
              <a:t>Corso PON “Coding &amp; App” - Istituto Superiore di Istruzione “Archimede”, Treviglio </a:t>
            </a:r>
            <a:endParaRPr i="1"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it"/>
              <a:t>Cos’è una stack?</a:t>
            </a:r>
            <a:endParaRPr/>
          </a:p>
        </p:txBody>
      </p:sp>
      <p:sp>
        <p:nvSpPr>
          <p:cNvPr id="70" name="Google Shape;70;p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946"/>
              <a:buNone/>
            </a:pPr>
            <a:r>
              <a:rPr lang="it"/>
              <a:t>È una struttura dati che supporta almeno due principali operazioni:</a:t>
            </a:r>
            <a:endParaRPr/>
          </a:p>
          <a:p>
            <a:pPr indent="-342900" lvl="0" marL="457200" rtl="0" algn="l">
              <a:lnSpc>
                <a:spcPct val="115000"/>
              </a:lnSpc>
              <a:spcBef>
                <a:spcPts val="0"/>
              </a:spcBef>
              <a:spcAft>
                <a:spcPts val="0"/>
              </a:spcAft>
              <a:buSzPts val="1800"/>
              <a:buChar char="●"/>
            </a:pPr>
            <a:r>
              <a:rPr lang="it"/>
              <a:t>Push: inserisce un elemento nella struttura dati</a:t>
            </a:r>
            <a:endParaRPr/>
          </a:p>
          <a:p>
            <a:pPr indent="-342900" lvl="0" marL="457200" rtl="0" algn="l">
              <a:lnSpc>
                <a:spcPct val="115000"/>
              </a:lnSpc>
              <a:spcBef>
                <a:spcPts val="0"/>
              </a:spcBef>
              <a:spcAft>
                <a:spcPts val="0"/>
              </a:spcAft>
              <a:buSzPts val="1800"/>
              <a:buChar char="●"/>
            </a:pPr>
            <a:r>
              <a:rPr lang="it"/>
              <a:t>Pop: rimuove l’elemento più recentemente inserito</a:t>
            </a:r>
            <a:endParaRPr/>
          </a:p>
          <a:p>
            <a:pPr indent="0" lvl="0" marL="0" rtl="0" algn="l">
              <a:lnSpc>
                <a:spcPct val="115000"/>
              </a:lnSpc>
              <a:spcBef>
                <a:spcPts val="0"/>
              </a:spcBef>
              <a:spcAft>
                <a:spcPts val="0"/>
              </a:spcAft>
              <a:buNone/>
            </a:pPr>
            <a:r>
              <a:rPr lang="it"/>
              <a:t>Intuitivamente, è una pila di elementi uno sopra l’altro, come a simulare una “pila di piatti” di un ristorante.</a:t>
            </a:r>
            <a:endParaRPr/>
          </a:p>
          <a:p>
            <a:pPr indent="0" lvl="0" marL="0" rtl="0" algn="l">
              <a:lnSpc>
                <a:spcPct val="115000"/>
              </a:lnSpc>
              <a:spcBef>
                <a:spcPts val="0"/>
              </a:spcBef>
              <a:spcAft>
                <a:spcPts val="0"/>
              </a:spcAft>
              <a:buNone/>
            </a:pPr>
            <a:r>
              <a:rPr lang="it"/>
              <a:t>È una struttura con policy di esecuzione LIFO (Last In First Out). È utilizzata in diversi campi:</a:t>
            </a:r>
            <a:endParaRPr/>
          </a:p>
          <a:p>
            <a:pPr indent="-342900" lvl="0" marL="457200" rtl="0" algn="l">
              <a:lnSpc>
                <a:spcPct val="115000"/>
              </a:lnSpc>
              <a:spcBef>
                <a:spcPts val="0"/>
              </a:spcBef>
              <a:spcAft>
                <a:spcPts val="0"/>
              </a:spcAft>
              <a:buSzPts val="1800"/>
              <a:buChar char="●"/>
            </a:pPr>
            <a:r>
              <a:rPr lang="it"/>
              <a:t>Richiami alle funzioni;</a:t>
            </a:r>
            <a:endParaRPr/>
          </a:p>
          <a:p>
            <a:pPr indent="-342900" lvl="0" marL="457200" rtl="0" algn="l">
              <a:lnSpc>
                <a:spcPct val="115000"/>
              </a:lnSpc>
              <a:spcBef>
                <a:spcPts val="0"/>
              </a:spcBef>
              <a:spcAft>
                <a:spcPts val="0"/>
              </a:spcAft>
              <a:buSzPts val="1800"/>
              <a:buChar char="●"/>
            </a:pPr>
            <a:r>
              <a:rPr lang="it"/>
              <a:t>Editor di testo (copia, incolla, indietro…);</a:t>
            </a:r>
            <a:endParaRPr/>
          </a:p>
          <a:p>
            <a:pPr indent="-342900" lvl="0" marL="457200" rtl="0" algn="l">
              <a:lnSpc>
                <a:spcPct val="115000"/>
              </a:lnSpc>
              <a:spcBef>
                <a:spcPts val="0"/>
              </a:spcBef>
              <a:spcAft>
                <a:spcPts val="0"/>
              </a:spcAft>
              <a:buSzPts val="1800"/>
              <a:buChar char="●"/>
            </a:pPr>
            <a:r>
              <a:rPr lang="it"/>
              <a:t>Il parsing di sintassi (esempio apertura e chiusura delle parentesi in un programma)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it"/>
              <a:t>Implementazione della struttura dati Stack</a:t>
            </a:r>
            <a:endParaRPr/>
          </a:p>
        </p:txBody>
      </p:sp>
      <p:graphicFrame>
        <p:nvGraphicFramePr>
          <p:cNvPr id="76" name="Google Shape;76;p4"/>
          <p:cNvGraphicFramePr/>
          <p:nvPr/>
        </p:nvGraphicFramePr>
        <p:xfrm>
          <a:off x="1381125" y="1147225"/>
          <a:ext cx="3000000" cy="3000000"/>
        </p:xfrm>
        <a:graphic>
          <a:graphicData uri="http://schemas.openxmlformats.org/drawingml/2006/table">
            <a:tbl>
              <a:tblPr>
                <a:noFill/>
                <a:tableStyleId>{E0B2FC42-F7E4-4284-86EE-E2919AEC0C97}</a:tableStyleId>
              </a:tblPr>
              <a:tblGrid>
                <a:gridCol w="3190875"/>
                <a:gridCol w="3190875"/>
              </a:tblGrid>
              <a:tr h="652875">
                <a:tc>
                  <a:txBody>
                    <a:bodyPr/>
                    <a:lstStyle/>
                    <a:p>
                      <a:pPr indent="0" lvl="0" marL="0" marR="0" rtl="0" algn="ctr">
                        <a:lnSpc>
                          <a:spcPct val="100000"/>
                        </a:lnSpc>
                        <a:spcBef>
                          <a:spcPts val="0"/>
                        </a:spcBef>
                        <a:spcAft>
                          <a:spcPts val="0"/>
                        </a:spcAft>
                        <a:buClr>
                          <a:srgbClr val="000000"/>
                        </a:buClr>
                        <a:buSzPts val="3200"/>
                        <a:buFont typeface="Arial"/>
                        <a:buNone/>
                      </a:pPr>
                      <a:r>
                        <a:rPr lang="it" sz="3200" u="none" cap="none" strike="noStrike">
                          <a:latin typeface="Open Sans"/>
                          <a:ea typeface="Open Sans"/>
                          <a:cs typeface="Open Sans"/>
                          <a:sym typeface="Open Sans"/>
                        </a:rPr>
                        <a:t>Array</a:t>
                      </a:r>
                      <a:endParaRPr sz="3200" u="none" cap="none" strike="noStrike">
                        <a:latin typeface="Open Sans"/>
                        <a:ea typeface="Open Sans"/>
                        <a:cs typeface="Open Sans"/>
                        <a:sym typeface="Open Sans"/>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3200"/>
                        <a:buFont typeface="Arial"/>
                        <a:buNone/>
                      </a:pPr>
                      <a:r>
                        <a:rPr lang="it" sz="3200">
                          <a:latin typeface="Open Sans"/>
                          <a:ea typeface="Open Sans"/>
                          <a:cs typeface="Open Sans"/>
                          <a:sym typeface="Open Sans"/>
                        </a:rPr>
                        <a:t>SL</a:t>
                      </a:r>
                      <a:r>
                        <a:rPr lang="it" sz="3200" u="none" cap="none" strike="noStrike">
                          <a:latin typeface="Open Sans"/>
                          <a:ea typeface="Open Sans"/>
                          <a:cs typeface="Open Sans"/>
                          <a:sym typeface="Open Sans"/>
                        </a:rPr>
                        <a:t>List</a:t>
                      </a:r>
                      <a:endParaRPr sz="3200" u="none" cap="none" strike="noStrike">
                        <a:latin typeface="Open Sans"/>
                        <a:ea typeface="Open Sans"/>
                        <a:cs typeface="Open Sans"/>
                        <a:sym typeface="Open Sans"/>
                      </a:endParaRPr>
                    </a:p>
                  </a:txBody>
                  <a:tcPr marT="91425" marB="91425" marR="91425" marL="91425" anchor="ctr"/>
                </a:tc>
              </a:tr>
              <a:tr h="652875">
                <a:tc>
                  <a:txBody>
                    <a:bodyPr/>
                    <a:lstStyle/>
                    <a:p>
                      <a:pPr indent="0" lvl="0" marL="0" marR="0" rtl="0" algn="ctr">
                        <a:lnSpc>
                          <a:spcPct val="100000"/>
                        </a:lnSpc>
                        <a:spcBef>
                          <a:spcPts val="0"/>
                        </a:spcBef>
                        <a:spcAft>
                          <a:spcPts val="0"/>
                        </a:spcAft>
                        <a:buClr>
                          <a:srgbClr val="000000"/>
                        </a:buClr>
                        <a:buSzPts val="1400"/>
                        <a:buFont typeface="Arial"/>
                        <a:buNone/>
                      </a:pPr>
                      <a:r>
                        <a:rPr lang="it"/>
                        <a:t>POP: rimuove l’ultimo elemento nell’array</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it"/>
                        <a:t>POP: rimuove la testa della lista</a:t>
                      </a:r>
                      <a:endParaRPr sz="1400" u="none" cap="none" strike="noStrike"/>
                    </a:p>
                  </a:txBody>
                  <a:tcPr marT="91425" marB="91425" marR="91425" marL="91425" anchor="ctr"/>
                </a:tc>
              </a:tr>
              <a:tr h="652875">
                <a:tc>
                  <a:txBody>
                    <a:bodyPr/>
                    <a:lstStyle/>
                    <a:p>
                      <a:pPr indent="0" lvl="0" marL="0" marR="0" rtl="0" algn="ctr">
                        <a:lnSpc>
                          <a:spcPct val="100000"/>
                        </a:lnSpc>
                        <a:spcBef>
                          <a:spcPts val="0"/>
                        </a:spcBef>
                        <a:spcAft>
                          <a:spcPts val="0"/>
                        </a:spcAft>
                        <a:buClr>
                          <a:srgbClr val="000000"/>
                        </a:buClr>
                        <a:buSzPts val="1400"/>
                        <a:buFont typeface="Arial"/>
                        <a:buNone/>
                      </a:pPr>
                      <a:r>
                        <a:rPr lang="it"/>
                        <a:t>PUSH: inserisce l’elemento nella prima posizione libera</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it"/>
                        <a:t>PUSH: inserisce l’elemento nella testa della lista</a:t>
                      </a:r>
                      <a:endParaRPr sz="1400" u="none" cap="none" strike="noStrike"/>
                    </a:p>
                  </a:txBody>
                  <a:tcPr marT="91425" marB="91425" marR="91425" marL="91425" anchor="ctr"/>
                </a:tc>
              </a:tr>
              <a:tr h="652875">
                <a:tc>
                  <a:txBody>
                    <a:bodyPr/>
                    <a:lstStyle/>
                    <a:p>
                      <a:pPr indent="0" lvl="0" marL="0" marR="0" rtl="0" algn="ctr">
                        <a:lnSpc>
                          <a:spcPct val="100000"/>
                        </a:lnSpc>
                        <a:spcBef>
                          <a:spcPts val="0"/>
                        </a:spcBef>
                        <a:spcAft>
                          <a:spcPts val="0"/>
                        </a:spcAft>
                        <a:buClr>
                          <a:srgbClr val="000000"/>
                        </a:buClr>
                        <a:buSzPts val="1400"/>
                        <a:buFont typeface="Arial"/>
                        <a:buNone/>
                      </a:pPr>
                      <a:r>
                        <a:rPr lang="it"/>
                        <a:t>Pro: nessun uso sopraelevato di memoria (si memorizza solamente il valore)</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it"/>
                        <a:t>Pro: nessun limite alla dimensione della stack</a:t>
                      </a:r>
                      <a:endParaRPr sz="1400" u="none" cap="none" strike="noStrike"/>
                    </a:p>
                  </a:txBody>
                  <a:tcPr marT="91425" marB="91425" marR="91425" marL="91425" anchor="ctr"/>
                </a:tc>
              </a:tr>
              <a:tr h="652875">
                <a:tc>
                  <a:txBody>
                    <a:bodyPr/>
                    <a:lstStyle/>
                    <a:p>
                      <a:pPr indent="0" lvl="0" marL="0" marR="0" rtl="0" algn="ctr">
                        <a:lnSpc>
                          <a:spcPct val="100000"/>
                        </a:lnSpc>
                        <a:spcBef>
                          <a:spcPts val="0"/>
                        </a:spcBef>
                        <a:spcAft>
                          <a:spcPts val="0"/>
                        </a:spcAft>
                        <a:buNone/>
                      </a:pPr>
                      <a:r>
                        <a:rPr lang="it"/>
                        <a:t>Contro: dimensione limitata per la stack</a:t>
                      </a:r>
                      <a:endParaRPr/>
                    </a:p>
                  </a:txBody>
                  <a:tcPr marT="91425" marB="91425" marR="91425" marL="91425" anchor="ctr"/>
                </a:tc>
                <a:tc>
                  <a:txBody>
                    <a:bodyPr/>
                    <a:lstStyle/>
                    <a:p>
                      <a:pPr indent="0" lvl="0" marL="0" marR="0" rtl="0" algn="ctr">
                        <a:lnSpc>
                          <a:spcPct val="100000"/>
                        </a:lnSpc>
                        <a:spcBef>
                          <a:spcPts val="0"/>
                        </a:spcBef>
                        <a:spcAft>
                          <a:spcPts val="0"/>
                        </a:spcAft>
                        <a:buNone/>
                      </a:pPr>
                      <a:r>
                        <a:rPr lang="it"/>
                        <a:t>Contro: uso di Doubly o Circular?</a:t>
                      </a:r>
                      <a:endParaRPr sz="1400" u="none" cap="none" strike="noStrike"/>
                    </a:p>
                  </a:txBody>
                  <a:tcPr marT="91425" marB="91425" marR="91425" marL="91425"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g210cb77d1fc_0_0"/>
          <p:cNvPicPr preferRelativeResize="0"/>
          <p:nvPr/>
        </p:nvPicPr>
        <p:blipFill>
          <a:blip r:embed="rId3">
            <a:alphaModFix/>
          </a:blip>
          <a:stretch>
            <a:fillRect/>
          </a:stretch>
        </p:blipFill>
        <p:spPr>
          <a:xfrm>
            <a:off x="1506724" y="282788"/>
            <a:ext cx="6130549" cy="4385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210cb77d1fc_0_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PUSH e POP con array statici</a:t>
            </a:r>
            <a:endParaRPr/>
          </a:p>
        </p:txBody>
      </p:sp>
      <p:pic>
        <p:nvPicPr>
          <p:cNvPr id="87" name="Google Shape;87;g210cb77d1fc_0_6"/>
          <p:cNvPicPr preferRelativeResize="0"/>
          <p:nvPr/>
        </p:nvPicPr>
        <p:blipFill>
          <a:blip r:embed="rId3">
            <a:alphaModFix/>
          </a:blip>
          <a:stretch>
            <a:fillRect/>
          </a:stretch>
        </p:blipFill>
        <p:spPr>
          <a:xfrm>
            <a:off x="311700" y="1147225"/>
            <a:ext cx="4410229" cy="3691473"/>
          </a:xfrm>
          <a:prstGeom prst="rect">
            <a:avLst/>
          </a:prstGeom>
          <a:noFill/>
          <a:ln>
            <a:noFill/>
          </a:ln>
        </p:spPr>
      </p:pic>
      <p:pic>
        <p:nvPicPr>
          <p:cNvPr id="88" name="Google Shape;88;g210cb77d1fc_0_6"/>
          <p:cNvPicPr preferRelativeResize="0"/>
          <p:nvPr/>
        </p:nvPicPr>
        <p:blipFill>
          <a:blip r:embed="rId4">
            <a:alphaModFix/>
          </a:blip>
          <a:stretch>
            <a:fillRect/>
          </a:stretch>
        </p:blipFill>
        <p:spPr>
          <a:xfrm>
            <a:off x="4865575" y="1185725"/>
            <a:ext cx="3786120" cy="36529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5"/>
          <p:cNvPicPr preferRelativeResize="0"/>
          <p:nvPr/>
        </p:nvPicPr>
        <p:blipFill>
          <a:blip r:embed="rId3">
            <a:alphaModFix/>
          </a:blip>
          <a:stretch>
            <a:fillRect/>
          </a:stretch>
        </p:blipFill>
        <p:spPr>
          <a:xfrm>
            <a:off x="2606807" y="967925"/>
            <a:ext cx="3581577" cy="1339875"/>
          </a:xfrm>
          <a:prstGeom prst="rect">
            <a:avLst/>
          </a:prstGeom>
          <a:noFill/>
          <a:ln>
            <a:noFill/>
          </a:ln>
        </p:spPr>
      </p:pic>
      <p:sp>
        <p:nvSpPr>
          <p:cNvPr id="94" name="Google Shape;94;p5"/>
          <p:cNvSpPr txBox="1"/>
          <p:nvPr/>
        </p:nvSpPr>
        <p:spPr>
          <a:xfrm>
            <a:off x="1354338" y="2686125"/>
            <a:ext cx="6546900" cy="9696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Open Sans"/>
              <a:buChar char="●"/>
            </a:pPr>
            <a:r>
              <a:rPr lang="it" sz="1700">
                <a:latin typeface="Open Sans"/>
                <a:ea typeface="Open Sans"/>
                <a:cs typeface="Open Sans"/>
                <a:sym typeface="Open Sans"/>
              </a:rPr>
              <a:t>Costo entrambe operazioni: </a:t>
            </a:r>
            <a:r>
              <a:rPr b="1" lang="it" sz="1700">
                <a:latin typeface="Open Sans"/>
                <a:ea typeface="Open Sans"/>
                <a:cs typeface="Open Sans"/>
                <a:sym typeface="Open Sans"/>
              </a:rPr>
              <a:t>O(1)</a:t>
            </a:r>
            <a:endParaRPr b="1" sz="1700">
              <a:latin typeface="Open Sans"/>
              <a:ea typeface="Open Sans"/>
              <a:cs typeface="Open Sans"/>
              <a:sym typeface="Open Sans"/>
            </a:endParaRPr>
          </a:p>
          <a:p>
            <a:pPr indent="-336550" lvl="0" marL="457200" rtl="0" algn="l">
              <a:spcBef>
                <a:spcPts val="0"/>
              </a:spcBef>
              <a:spcAft>
                <a:spcPts val="0"/>
              </a:spcAft>
              <a:buSzPts val="1700"/>
              <a:buFont typeface="Open Sans"/>
              <a:buChar char="●"/>
            </a:pPr>
            <a:r>
              <a:rPr lang="it" sz="1700">
                <a:latin typeface="Open Sans"/>
                <a:ea typeface="Open Sans"/>
                <a:cs typeface="Open Sans"/>
                <a:sym typeface="Open Sans"/>
              </a:rPr>
              <a:t>Stack Overflow per chiamate errate di operazioni di push</a:t>
            </a:r>
            <a:endParaRPr sz="1700">
              <a:latin typeface="Open Sans"/>
              <a:ea typeface="Open Sans"/>
              <a:cs typeface="Open Sans"/>
              <a:sym typeface="Open Sans"/>
            </a:endParaRPr>
          </a:p>
          <a:p>
            <a:pPr indent="-336550" lvl="0" marL="457200" rtl="0" algn="l">
              <a:spcBef>
                <a:spcPts val="0"/>
              </a:spcBef>
              <a:spcAft>
                <a:spcPts val="0"/>
              </a:spcAft>
              <a:buSzPts val="1700"/>
              <a:buFont typeface="Open Sans"/>
              <a:buChar char="●"/>
            </a:pPr>
            <a:r>
              <a:rPr lang="it" sz="1700">
                <a:latin typeface="Open Sans"/>
                <a:ea typeface="Open Sans"/>
                <a:cs typeface="Open Sans"/>
                <a:sym typeface="Open Sans"/>
              </a:rPr>
              <a:t>Stack Underflow per chiamate errate di operazioni di pop</a:t>
            </a:r>
            <a:endParaRPr sz="1700">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Implementazione con Array Dinamico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7"/>
          <p:cNvSpPr txBox="1"/>
          <p:nvPr>
            <p:ph type="title"/>
          </p:nvPr>
        </p:nvSpPr>
        <p:spPr>
          <a:xfrm>
            <a:off x="311700" y="498100"/>
            <a:ext cx="8520600" cy="8313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it"/>
              <a:t>Implementazione di un array dinamico </a:t>
            </a:r>
            <a:endParaRPr/>
          </a:p>
          <a:p>
            <a:pPr indent="0" lvl="0" marL="0" rtl="0" algn="ctr">
              <a:lnSpc>
                <a:spcPct val="100000"/>
              </a:lnSpc>
              <a:spcBef>
                <a:spcPts val="0"/>
              </a:spcBef>
              <a:spcAft>
                <a:spcPts val="0"/>
              </a:spcAft>
              <a:buSzPct val="136372"/>
              <a:buNone/>
            </a:pPr>
            <a:r>
              <a:rPr lang="it" sz="3422"/>
              <a:t>strategia di resizing</a:t>
            </a:r>
            <a:endParaRPr sz="3422"/>
          </a:p>
        </p:txBody>
      </p:sp>
      <p:graphicFrame>
        <p:nvGraphicFramePr>
          <p:cNvPr id="105" name="Google Shape;105;p7"/>
          <p:cNvGraphicFramePr/>
          <p:nvPr/>
        </p:nvGraphicFramePr>
        <p:xfrm>
          <a:off x="952500" y="1674800"/>
          <a:ext cx="3000000" cy="3000000"/>
        </p:xfrm>
        <a:graphic>
          <a:graphicData uri="http://schemas.openxmlformats.org/drawingml/2006/table">
            <a:tbl>
              <a:tblPr>
                <a:noFill/>
                <a:tableStyleId>{17B88B6A-FFA3-40F0-9FBC-E92B73532A5C}</a:tableStyleId>
              </a:tblPr>
              <a:tblGrid>
                <a:gridCol w="3619500"/>
                <a:gridCol w="3619500"/>
              </a:tblGrid>
              <a:tr h="1235550">
                <a:tc>
                  <a:txBody>
                    <a:bodyPr/>
                    <a:lstStyle/>
                    <a:p>
                      <a:pPr indent="0" lvl="0" marL="0" rtl="0" algn="ctr">
                        <a:spcBef>
                          <a:spcPts val="0"/>
                        </a:spcBef>
                        <a:spcAft>
                          <a:spcPts val="0"/>
                        </a:spcAft>
                        <a:buNone/>
                      </a:pPr>
                      <a:r>
                        <a:rPr lang="it"/>
                        <a:t>Raddoppiare la dimensione dell’array quando non c’è più spazio</a:t>
                      </a:r>
                      <a:endParaRPr/>
                    </a:p>
                  </a:txBody>
                  <a:tcPr marT="91425" marB="91425" marR="91425" marL="91425"/>
                </a:tc>
                <a:tc>
                  <a:txBody>
                    <a:bodyPr/>
                    <a:lstStyle/>
                    <a:p>
                      <a:pPr indent="0" lvl="0" marL="0" rtl="0" algn="ctr">
                        <a:spcBef>
                          <a:spcPts val="0"/>
                        </a:spcBef>
                        <a:spcAft>
                          <a:spcPts val="0"/>
                        </a:spcAft>
                        <a:buNone/>
                      </a:pPr>
                      <a:r>
                        <a:rPr lang="it"/>
                        <a:t>Dimezzare la dimensione dell’array quando sono occupati solamente ¼ delle posizioni disponibili</a:t>
                      </a:r>
                      <a:endParaRPr/>
                    </a:p>
                  </a:txBody>
                  <a:tcPr marT="91425" marB="91425" marR="91425" marL="91425"/>
                </a:tc>
              </a:tr>
              <a:tr h="12304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06" name="Google Shape;106;p7"/>
          <p:cNvPicPr preferRelativeResize="0"/>
          <p:nvPr/>
        </p:nvPicPr>
        <p:blipFill>
          <a:blip r:embed="rId3">
            <a:alphaModFix/>
          </a:blip>
          <a:stretch>
            <a:fillRect/>
          </a:stretch>
        </p:blipFill>
        <p:spPr>
          <a:xfrm>
            <a:off x="1158875" y="2511425"/>
            <a:ext cx="3229669" cy="1314450"/>
          </a:xfrm>
          <a:prstGeom prst="rect">
            <a:avLst/>
          </a:prstGeom>
          <a:noFill/>
          <a:ln>
            <a:noFill/>
          </a:ln>
        </p:spPr>
      </p:pic>
      <p:pic>
        <p:nvPicPr>
          <p:cNvPr id="107" name="Google Shape;107;p7"/>
          <p:cNvPicPr preferRelativeResize="0"/>
          <p:nvPr/>
        </p:nvPicPr>
        <p:blipFill>
          <a:blip r:embed="rId4">
            <a:alphaModFix/>
          </a:blip>
          <a:stretch>
            <a:fillRect/>
          </a:stretch>
        </p:blipFill>
        <p:spPr>
          <a:xfrm>
            <a:off x="4770450" y="2511425"/>
            <a:ext cx="3101767" cy="1314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210cb77d1fc_0_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POP con Array Dinamico</a:t>
            </a:r>
            <a:endParaRPr/>
          </a:p>
        </p:txBody>
      </p:sp>
      <p:pic>
        <p:nvPicPr>
          <p:cNvPr id="113" name="Google Shape;113;g210cb77d1fc_0_21"/>
          <p:cNvPicPr preferRelativeResize="0"/>
          <p:nvPr/>
        </p:nvPicPr>
        <p:blipFill>
          <a:blip r:embed="rId3">
            <a:alphaModFix/>
          </a:blip>
          <a:stretch>
            <a:fillRect/>
          </a:stretch>
        </p:blipFill>
        <p:spPr>
          <a:xfrm>
            <a:off x="347125" y="1147225"/>
            <a:ext cx="5248801" cy="3678874"/>
          </a:xfrm>
          <a:prstGeom prst="rect">
            <a:avLst/>
          </a:prstGeom>
          <a:noFill/>
          <a:ln>
            <a:noFill/>
          </a:ln>
        </p:spPr>
      </p:pic>
      <p:sp>
        <p:nvSpPr>
          <p:cNvPr id="114" name="Google Shape;114;g210cb77d1fc_0_21"/>
          <p:cNvSpPr txBox="1"/>
          <p:nvPr/>
        </p:nvSpPr>
        <p:spPr>
          <a:xfrm>
            <a:off x="5778500" y="1190625"/>
            <a:ext cx="3222600" cy="2986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latin typeface="Open Sans"/>
                <a:ea typeface="Open Sans"/>
                <a:cs typeface="Open Sans"/>
                <a:sym typeface="Open Sans"/>
              </a:rPr>
              <a:t>ANALISI DEI COSTI</a:t>
            </a:r>
            <a:endParaRPr b="1">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457200" rtl="0" algn="l">
              <a:spcBef>
                <a:spcPts val="0"/>
              </a:spcBef>
              <a:spcAft>
                <a:spcPts val="0"/>
              </a:spcAft>
              <a:buNone/>
            </a:pPr>
            <a:r>
              <a:rPr lang="it" u="sng">
                <a:latin typeface="Open Sans"/>
                <a:ea typeface="Open Sans"/>
                <a:cs typeface="Open Sans"/>
                <a:sym typeface="Open Sans"/>
              </a:rPr>
              <a:t>Worst Case Scenario</a:t>
            </a:r>
            <a:r>
              <a:rPr lang="it">
                <a:latin typeface="Open Sans"/>
                <a:ea typeface="Open Sans"/>
                <a:cs typeface="Open Sans"/>
                <a:sym typeface="Open Sans"/>
              </a:rPr>
              <a:t>: </a:t>
            </a:r>
            <a:r>
              <a:rPr b="1" lang="it">
                <a:latin typeface="Open Sans"/>
                <a:ea typeface="Open Sans"/>
                <a:cs typeface="Open Sans"/>
                <a:sym typeface="Open Sans"/>
              </a:rPr>
              <a:t>O(n)</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ctr">
              <a:spcBef>
                <a:spcPts val="0"/>
              </a:spcBef>
              <a:spcAft>
                <a:spcPts val="0"/>
              </a:spcAft>
              <a:buNone/>
            </a:pPr>
            <a:r>
              <a:rPr lang="it">
                <a:latin typeface="Open Sans"/>
                <a:ea typeface="Open Sans"/>
                <a:cs typeface="Open Sans"/>
                <a:sym typeface="Open Sans"/>
              </a:rPr>
              <a:t>Copia dell’array di dimensione n alla riga 10</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457200" rtl="0" algn="l">
              <a:spcBef>
                <a:spcPts val="0"/>
              </a:spcBef>
              <a:spcAft>
                <a:spcPts val="0"/>
              </a:spcAft>
              <a:buNone/>
            </a:pPr>
            <a:r>
              <a:rPr lang="it" u="sng">
                <a:latin typeface="Open Sans"/>
                <a:ea typeface="Open Sans"/>
                <a:cs typeface="Open Sans"/>
                <a:sym typeface="Open Sans"/>
              </a:rPr>
              <a:t>Best Case Scenario</a:t>
            </a:r>
            <a:r>
              <a:rPr lang="it">
                <a:latin typeface="Open Sans"/>
                <a:ea typeface="Open Sans"/>
                <a:cs typeface="Open Sans"/>
                <a:sym typeface="Open Sans"/>
              </a:rPr>
              <a:t>: </a:t>
            </a:r>
            <a:r>
              <a:rPr b="1" lang="it">
                <a:latin typeface="Open Sans"/>
                <a:ea typeface="Open Sans"/>
                <a:cs typeface="Open Sans"/>
                <a:sym typeface="Open Sans"/>
              </a:rPr>
              <a:t>O(1)</a:t>
            </a:r>
            <a:endParaRPr b="1">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ctr">
              <a:spcBef>
                <a:spcPts val="0"/>
              </a:spcBef>
              <a:spcAft>
                <a:spcPts val="0"/>
              </a:spcAft>
              <a:buNone/>
            </a:pPr>
            <a:r>
              <a:rPr lang="it">
                <a:latin typeface="Open Sans"/>
                <a:ea typeface="Open Sans"/>
                <a:cs typeface="Open Sans"/>
                <a:sym typeface="Open Sans"/>
              </a:rPr>
              <a:t>Più di ¼ dello spazio utilizzato</a:t>
            </a:r>
            <a:endParaRPr>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210cb77d1fc_0_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PUSH con Array Dinamico</a:t>
            </a:r>
            <a:endParaRPr/>
          </a:p>
        </p:txBody>
      </p:sp>
      <p:sp>
        <p:nvSpPr>
          <p:cNvPr id="120" name="Google Shape;120;g210cb77d1fc_0_28"/>
          <p:cNvSpPr txBox="1"/>
          <p:nvPr/>
        </p:nvSpPr>
        <p:spPr>
          <a:xfrm>
            <a:off x="5778500" y="1190625"/>
            <a:ext cx="3222600" cy="2986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latin typeface="Open Sans"/>
                <a:ea typeface="Open Sans"/>
                <a:cs typeface="Open Sans"/>
                <a:sym typeface="Open Sans"/>
              </a:rPr>
              <a:t>ANALISI DEI COSTI</a:t>
            </a:r>
            <a:endParaRPr b="1">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457200" rtl="0" algn="l">
              <a:spcBef>
                <a:spcPts val="0"/>
              </a:spcBef>
              <a:spcAft>
                <a:spcPts val="0"/>
              </a:spcAft>
              <a:buNone/>
            </a:pPr>
            <a:r>
              <a:rPr lang="it" u="sng">
                <a:latin typeface="Open Sans"/>
                <a:ea typeface="Open Sans"/>
                <a:cs typeface="Open Sans"/>
                <a:sym typeface="Open Sans"/>
              </a:rPr>
              <a:t>Worst Case Scenario</a:t>
            </a:r>
            <a:r>
              <a:rPr lang="it">
                <a:latin typeface="Open Sans"/>
                <a:ea typeface="Open Sans"/>
                <a:cs typeface="Open Sans"/>
                <a:sym typeface="Open Sans"/>
              </a:rPr>
              <a:t>: </a:t>
            </a:r>
            <a:r>
              <a:rPr b="1" lang="it">
                <a:latin typeface="Open Sans"/>
                <a:ea typeface="Open Sans"/>
                <a:cs typeface="Open Sans"/>
                <a:sym typeface="Open Sans"/>
              </a:rPr>
              <a:t>O(n)</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ctr">
              <a:spcBef>
                <a:spcPts val="0"/>
              </a:spcBef>
              <a:spcAft>
                <a:spcPts val="0"/>
              </a:spcAft>
              <a:buNone/>
            </a:pPr>
            <a:r>
              <a:rPr lang="it">
                <a:latin typeface="Open Sans"/>
                <a:ea typeface="Open Sans"/>
                <a:cs typeface="Open Sans"/>
                <a:sym typeface="Open Sans"/>
              </a:rPr>
              <a:t>Copia dell’array di dimensione n alla riga 5</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457200" rtl="0" algn="l">
              <a:spcBef>
                <a:spcPts val="0"/>
              </a:spcBef>
              <a:spcAft>
                <a:spcPts val="0"/>
              </a:spcAft>
              <a:buNone/>
            </a:pPr>
            <a:r>
              <a:rPr lang="it" u="sng">
                <a:latin typeface="Open Sans"/>
                <a:ea typeface="Open Sans"/>
                <a:cs typeface="Open Sans"/>
                <a:sym typeface="Open Sans"/>
              </a:rPr>
              <a:t>Best Case Scenario</a:t>
            </a:r>
            <a:r>
              <a:rPr lang="it">
                <a:latin typeface="Open Sans"/>
                <a:ea typeface="Open Sans"/>
                <a:cs typeface="Open Sans"/>
                <a:sym typeface="Open Sans"/>
              </a:rPr>
              <a:t>: </a:t>
            </a:r>
            <a:r>
              <a:rPr b="1" lang="it">
                <a:latin typeface="Open Sans"/>
                <a:ea typeface="Open Sans"/>
                <a:cs typeface="Open Sans"/>
                <a:sym typeface="Open Sans"/>
              </a:rPr>
              <a:t>O(1)</a:t>
            </a:r>
            <a:endParaRPr b="1">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ctr">
              <a:spcBef>
                <a:spcPts val="0"/>
              </a:spcBef>
              <a:spcAft>
                <a:spcPts val="0"/>
              </a:spcAft>
              <a:buNone/>
            </a:pPr>
            <a:r>
              <a:rPr lang="it">
                <a:latin typeface="Open Sans"/>
                <a:ea typeface="Open Sans"/>
                <a:cs typeface="Open Sans"/>
                <a:sym typeface="Open Sans"/>
              </a:rPr>
              <a:t>Array non pieno</a:t>
            </a:r>
            <a:endParaRPr>
              <a:latin typeface="Open Sans"/>
              <a:ea typeface="Open Sans"/>
              <a:cs typeface="Open Sans"/>
              <a:sym typeface="Open Sans"/>
            </a:endParaRPr>
          </a:p>
        </p:txBody>
      </p:sp>
      <p:pic>
        <p:nvPicPr>
          <p:cNvPr id="121" name="Google Shape;121;g210cb77d1fc_0_28"/>
          <p:cNvPicPr preferRelativeResize="0"/>
          <p:nvPr/>
        </p:nvPicPr>
        <p:blipFill>
          <a:blip r:embed="rId3">
            <a:alphaModFix/>
          </a:blip>
          <a:stretch>
            <a:fillRect/>
          </a:stretch>
        </p:blipFill>
        <p:spPr>
          <a:xfrm>
            <a:off x="311700" y="1190625"/>
            <a:ext cx="5473700" cy="331665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g210cb77d1fc_0_35"/>
          <p:cNvPicPr preferRelativeResize="0"/>
          <p:nvPr/>
        </p:nvPicPr>
        <p:blipFill>
          <a:blip r:embed="rId3">
            <a:alphaModFix/>
          </a:blip>
          <a:stretch>
            <a:fillRect/>
          </a:stretch>
        </p:blipFill>
        <p:spPr>
          <a:xfrm>
            <a:off x="1802438" y="152400"/>
            <a:ext cx="5539134" cy="48387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g210cb77d1fc_0_41"/>
          <p:cNvPicPr preferRelativeResize="0"/>
          <p:nvPr/>
        </p:nvPicPr>
        <p:blipFill>
          <a:blip r:embed="rId3">
            <a:alphaModFix/>
          </a:blip>
          <a:stretch>
            <a:fillRect/>
          </a:stretch>
        </p:blipFill>
        <p:spPr>
          <a:xfrm>
            <a:off x="152400" y="152400"/>
            <a:ext cx="8839200" cy="44980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12205bfbf8_0_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it"/>
              <a:t>Cos’è una queue?</a:t>
            </a:r>
            <a:endParaRPr/>
          </a:p>
        </p:txBody>
      </p:sp>
      <p:sp>
        <p:nvSpPr>
          <p:cNvPr id="137" name="Google Shape;137;g212205bfbf8_0_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lang="it"/>
              <a:t>È una struttura dati che supporta almeno due principali operazioni:</a:t>
            </a:r>
            <a:endParaRPr/>
          </a:p>
          <a:p>
            <a:pPr indent="-342900" lvl="0" marL="457200" rtl="0" algn="l">
              <a:lnSpc>
                <a:spcPct val="115000"/>
              </a:lnSpc>
              <a:spcBef>
                <a:spcPts val="0"/>
              </a:spcBef>
              <a:spcAft>
                <a:spcPts val="0"/>
              </a:spcAft>
              <a:buSzPts val="1800"/>
              <a:buChar char="●"/>
            </a:pPr>
            <a:r>
              <a:rPr lang="it"/>
              <a:t>Enqueue: inserisce un elemento alla fine della struttura dati</a:t>
            </a:r>
            <a:endParaRPr/>
          </a:p>
          <a:p>
            <a:pPr indent="-342900" lvl="0" marL="457200" rtl="0" algn="l">
              <a:lnSpc>
                <a:spcPct val="115000"/>
              </a:lnSpc>
              <a:spcBef>
                <a:spcPts val="0"/>
              </a:spcBef>
              <a:spcAft>
                <a:spcPts val="0"/>
              </a:spcAft>
              <a:buSzPts val="1800"/>
              <a:buChar char="●"/>
            </a:pPr>
            <a:r>
              <a:rPr lang="it"/>
              <a:t>Dequeue: rimuove l’elemento all’inizio della struttura dati</a:t>
            </a:r>
            <a:endParaRPr/>
          </a:p>
          <a:p>
            <a:pPr indent="0" lvl="0" marL="0" rtl="0" algn="l">
              <a:lnSpc>
                <a:spcPct val="115000"/>
              </a:lnSpc>
              <a:spcBef>
                <a:spcPts val="0"/>
              </a:spcBef>
              <a:spcAft>
                <a:spcPts val="0"/>
              </a:spcAft>
              <a:buNone/>
            </a:pPr>
            <a:r>
              <a:rPr lang="it"/>
              <a:t>Intuitivamente, è una fila di elementi uno dopo l’altro, come a simulare una “fila di persone in attesa”.</a:t>
            </a:r>
            <a:endParaRPr/>
          </a:p>
          <a:p>
            <a:pPr indent="0" lvl="0" marL="0" rtl="0" algn="l">
              <a:lnSpc>
                <a:spcPct val="115000"/>
              </a:lnSpc>
              <a:spcBef>
                <a:spcPts val="0"/>
              </a:spcBef>
              <a:spcAft>
                <a:spcPts val="0"/>
              </a:spcAft>
              <a:buNone/>
            </a:pPr>
            <a:r>
              <a:rPr lang="it"/>
              <a:t>È una struttura con policy di esecuzione FIFO (First In First Out). È utilizzata in diversi campi:</a:t>
            </a:r>
            <a:endParaRPr/>
          </a:p>
          <a:p>
            <a:pPr indent="-342900" lvl="0" marL="457200" rtl="0" algn="l">
              <a:lnSpc>
                <a:spcPct val="115000"/>
              </a:lnSpc>
              <a:spcBef>
                <a:spcPts val="0"/>
              </a:spcBef>
              <a:spcAft>
                <a:spcPts val="0"/>
              </a:spcAft>
              <a:buSzPts val="1800"/>
              <a:buChar char="●"/>
            </a:pPr>
            <a:r>
              <a:rPr lang="it"/>
              <a:t>Breadth-first-search sui grafi;</a:t>
            </a:r>
            <a:endParaRPr/>
          </a:p>
          <a:p>
            <a:pPr indent="-342900" lvl="0" marL="457200" rtl="0" algn="l">
              <a:lnSpc>
                <a:spcPct val="115000"/>
              </a:lnSpc>
              <a:spcBef>
                <a:spcPts val="0"/>
              </a:spcBef>
              <a:spcAft>
                <a:spcPts val="0"/>
              </a:spcAft>
              <a:buSzPts val="1800"/>
              <a:buChar char="●"/>
            </a:pPr>
            <a:r>
              <a:rPr lang="it"/>
              <a:t>Programmazione di processi nei sistemi operativi.</a:t>
            </a:r>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212205bfbf8_0_1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it"/>
              <a:t>Implementazione della struttura dati Queue</a:t>
            </a:r>
            <a:endParaRPr/>
          </a:p>
        </p:txBody>
      </p:sp>
      <p:graphicFrame>
        <p:nvGraphicFramePr>
          <p:cNvPr id="143" name="Google Shape;143;g212205bfbf8_0_10"/>
          <p:cNvGraphicFramePr/>
          <p:nvPr/>
        </p:nvGraphicFramePr>
        <p:xfrm>
          <a:off x="311700" y="1147220"/>
          <a:ext cx="3000000" cy="3000000"/>
        </p:xfrm>
        <a:graphic>
          <a:graphicData uri="http://schemas.openxmlformats.org/drawingml/2006/table">
            <a:tbl>
              <a:tblPr>
                <a:noFill/>
                <a:tableStyleId>{17B88B6A-FFA3-40F0-9FBC-E92B73532A5C}</a:tableStyleId>
              </a:tblPr>
              <a:tblGrid>
                <a:gridCol w="2840200"/>
                <a:gridCol w="2840200"/>
                <a:gridCol w="2840200"/>
              </a:tblGrid>
              <a:tr h="378975">
                <a:tc>
                  <a:txBody>
                    <a:bodyPr/>
                    <a:lstStyle/>
                    <a:p>
                      <a:pPr indent="0" lvl="0" marL="0" rtl="0" algn="ctr">
                        <a:spcBef>
                          <a:spcPts val="0"/>
                        </a:spcBef>
                        <a:spcAft>
                          <a:spcPts val="0"/>
                        </a:spcAft>
                        <a:buNone/>
                      </a:pPr>
                      <a:r>
                        <a:rPr lang="it"/>
                        <a:t>Circular Linked List</a:t>
                      </a:r>
                      <a:endParaRPr/>
                    </a:p>
                  </a:txBody>
                  <a:tcPr marT="91425" marB="91425" marR="91425" marL="91425"/>
                </a:tc>
                <a:tc>
                  <a:txBody>
                    <a:bodyPr/>
                    <a:lstStyle/>
                    <a:p>
                      <a:pPr indent="0" lvl="0" marL="0" rtl="0" algn="ctr">
                        <a:spcBef>
                          <a:spcPts val="0"/>
                        </a:spcBef>
                        <a:spcAft>
                          <a:spcPts val="0"/>
                        </a:spcAft>
                        <a:buNone/>
                      </a:pPr>
                      <a:r>
                        <a:rPr lang="it"/>
                        <a:t>Singly Linked List</a:t>
                      </a:r>
                      <a:endParaRPr/>
                    </a:p>
                  </a:txBody>
                  <a:tcPr marT="91425" marB="91425" marR="91425" marL="91425"/>
                </a:tc>
                <a:tc>
                  <a:txBody>
                    <a:bodyPr/>
                    <a:lstStyle/>
                    <a:p>
                      <a:pPr indent="0" lvl="0" marL="0" rtl="0" algn="ctr">
                        <a:spcBef>
                          <a:spcPts val="0"/>
                        </a:spcBef>
                        <a:spcAft>
                          <a:spcPts val="0"/>
                        </a:spcAft>
                        <a:buNone/>
                      </a:pPr>
                      <a:r>
                        <a:rPr lang="it">
                          <a:solidFill>
                            <a:srgbClr val="FF0000"/>
                          </a:solidFill>
                        </a:rPr>
                        <a:t>Array</a:t>
                      </a:r>
                      <a:endParaRPr>
                        <a:solidFill>
                          <a:srgbClr val="FF0000"/>
                        </a:solidFill>
                      </a:endParaRPr>
                    </a:p>
                  </a:txBody>
                  <a:tcPr marT="91425" marB="91425" marR="91425" marL="91425"/>
                </a:tc>
              </a:tr>
              <a:tr h="787150">
                <a:tc>
                  <a:txBody>
                    <a:bodyPr/>
                    <a:lstStyle/>
                    <a:p>
                      <a:pPr indent="0" lvl="0" marL="0" rtl="0" algn="l">
                        <a:spcBef>
                          <a:spcPts val="0"/>
                        </a:spcBef>
                        <a:spcAft>
                          <a:spcPts val="0"/>
                        </a:spcAft>
                        <a:buNone/>
                      </a:pPr>
                      <a:r>
                        <a:rPr lang="it"/>
                        <a:t>Enqueue: inserimento nella coda della lista</a:t>
                      </a:r>
                      <a:endParaRPr/>
                    </a:p>
                  </a:txBody>
                  <a:tcPr marT="91425" marB="91425" marR="91425" marL="91425"/>
                </a:tc>
                <a:tc>
                  <a:txBody>
                    <a:bodyPr/>
                    <a:lstStyle/>
                    <a:p>
                      <a:pPr indent="0" lvl="0" marL="0" rtl="0" algn="l">
                        <a:spcBef>
                          <a:spcPts val="0"/>
                        </a:spcBef>
                        <a:spcAft>
                          <a:spcPts val="0"/>
                        </a:spcAft>
                        <a:buNone/>
                      </a:pPr>
                      <a:r>
                        <a:rPr lang="it">
                          <a:solidFill>
                            <a:schemeClr val="dk1"/>
                          </a:solidFill>
                        </a:rPr>
                        <a:t>Enqueue: inserimento nella coda della lista, aggiungendo un puntatore dalla coda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it">
                          <a:solidFill>
                            <a:schemeClr val="dk1"/>
                          </a:solidFill>
                        </a:rPr>
                        <a:t>Enqueue: inserimento nella coda della lista</a:t>
                      </a:r>
                      <a:endParaRPr>
                        <a:solidFill>
                          <a:schemeClr val="dk1"/>
                        </a:solidFill>
                      </a:endParaRPr>
                    </a:p>
                    <a:p>
                      <a:pPr indent="0" lvl="0" marL="0" rtl="0" algn="l">
                        <a:spcBef>
                          <a:spcPts val="0"/>
                        </a:spcBef>
                        <a:spcAft>
                          <a:spcPts val="0"/>
                        </a:spcAft>
                        <a:buNone/>
                      </a:pPr>
                      <a:r>
                        <a:t/>
                      </a:r>
                      <a:endParaRPr/>
                    </a:p>
                  </a:txBody>
                  <a:tcPr marT="91425" marB="91425" marR="91425" marL="91425"/>
                </a:tc>
              </a:tr>
              <a:tr h="787150">
                <a:tc>
                  <a:txBody>
                    <a:bodyPr/>
                    <a:lstStyle/>
                    <a:p>
                      <a:pPr indent="0" lvl="0" marL="0" rtl="0" algn="l">
                        <a:spcBef>
                          <a:spcPts val="0"/>
                        </a:spcBef>
                        <a:spcAft>
                          <a:spcPts val="0"/>
                        </a:spcAft>
                        <a:buNone/>
                      </a:pPr>
                      <a:r>
                        <a:rPr lang="it"/>
                        <a:t>Dequeue: rimuove la testa della lista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it">
                          <a:solidFill>
                            <a:schemeClr val="dk1"/>
                          </a:solidFill>
                        </a:rPr>
                        <a:t>Dequeue: rimuove la testa della lista</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it">
                          <a:solidFill>
                            <a:schemeClr val="dk1"/>
                          </a:solidFill>
                        </a:rPr>
                        <a:t>Dequeue: rimuove la testa della lista</a:t>
                      </a:r>
                      <a:endParaRPr>
                        <a:solidFill>
                          <a:schemeClr val="dk1"/>
                        </a:solidFill>
                      </a:endParaRPr>
                    </a:p>
                    <a:p>
                      <a:pPr indent="0" lvl="0" marL="0" rtl="0" algn="l">
                        <a:spcBef>
                          <a:spcPts val="0"/>
                        </a:spcBef>
                        <a:spcAft>
                          <a:spcPts val="0"/>
                        </a:spcAft>
                        <a:buNone/>
                      </a:pPr>
                      <a:r>
                        <a:t/>
                      </a:r>
                      <a:endParaRPr/>
                    </a:p>
                  </a:txBody>
                  <a:tcPr marT="91425" marB="91425" marR="91425" marL="91425"/>
                </a:tc>
              </a:tr>
              <a:tr h="787150">
                <a:tc>
                  <a:txBody>
                    <a:bodyPr/>
                    <a:lstStyle/>
                    <a:p>
                      <a:pPr indent="0" lvl="0" marL="0" rtl="0" algn="l">
                        <a:spcBef>
                          <a:spcPts val="0"/>
                        </a:spcBef>
                        <a:spcAft>
                          <a:spcPts val="0"/>
                        </a:spcAft>
                        <a:buNone/>
                      </a:pPr>
                      <a:r>
                        <a:rPr lang="it"/>
                        <a:t>Pro: struttura dinamica senza limiti</a:t>
                      </a:r>
                      <a:endParaRPr/>
                    </a:p>
                  </a:txBody>
                  <a:tcPr marT="91425" marB="91425" marR="91425" marL="91425"/>
                </a:tc>
                <a:tc rowSpan="2">
                  <a:txBody>
                    <a:bodyPr/>
                    <a:lstStyle/>
                    <a:p>
                      <a:pPr indent="0" lvl="0" marL="0" rtl="0" algn="l">
                        <a:spcBef>
                          <a:spcPts val="0"/>
                        </a:spcBef>
                        <a:spcAft>
                          <a:spcPts val="0"/>
                        </a:spcAft>
                        <a:buNone/>
                      </a:pPr>
                      <a:r>
                        <a:rPr b="1" lang="it" sz="1800"/>
                        <a:t>In TUTTI i casi, </a:t>
                      </a:r>
                      <a:r>
                        <a:rPr lang="it" sz="1800"/>
                        <a:t>il costo è</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rPr b="1" lang="it" sz="1800"/>
                        <a:t>O(1)</a:t>
                      </a:r>
                      <a:endParaRPr b="1" sz="1800"/>
                    </a:p>
                  </a:txBody>
                  <a:tcPr marT="91425" marB="91425" marR="91425" marL="91425"/>
                </a:tc>
                <a:tc>
                  <a:txBody>
                    <a:bodyPr/>
                    <a:lstStyle/>
                    <a:p>
                      <a:pPr indent="0" lvl="0" marL="0" rtl="0" algn="l">
                        <a:spcBef>
                          <a:spcPts val="0"/>
                        </a:spcBef>
                        <a:spcAft>
                          <a:spcPts val="0"/>
                        </a:spcAft>
                        <a:buNone/>
                      </a:pPr>
                      <a:r>
                        <a:rPr lang="it"/>
                        <a:t>Pro: nessun utilizzo elevato di memoria (si memorizza solamente il valore)</a:t>
                      </a:r>
                      <a:endParaRPr/>
                    </a:p>
                  </a:txBody>
                  <a:tcPr marT="91425" marB="91425" marR="91425" marL="91425"/>
                </a:tc>
              </a:tr>
              <a:tr h="991250">
                <a:tc>
                  <a:txBody>
                    <a:bodyPr/>
                    <a:lstStyle/>
                    <a:p>
                      <a:pPr indent="0" lvl="0" marL="0" rtl="0" algn="l">
                        <a:spcBef>
                          <a:spcPts val="0"/>
                        </a:spcBef>
                        <a:spcAft>
                          <a:spcPts val="0"/>
                        </a:spcAft>
                        <a:buNone/>
                      </a:pPr>
                      <a:r>
                        <a:rPr lang="it"/>
                        <a:t>Contro: utilizzo elevato di memoria </a:t>
                      </a:r>
                      <a:r>
                        <a:rPr lang="it"/>
                        <a:t>(necessaria</a:t>
                      </a:r>
                      <a:r>
                        <a:rPr lang="it"/>
                        <a:t> introduzione di 2 puntatori, oltre al dato)</a:t>
                      </a:r>
                      <a:endParaRPr/>
                    </a:p>
                  </a:txBody>
                  <a:tcPr marT="91425" marB="91425" marR="91425" marL="91425"/>
                </a:tc>
                <a:tc vMerge="1"/>
                <a:tc>
                  <a:txBody>
                    <a:bodyPr/>
                    <a:lstStyle/>
                    <a:p>
                      <a:pPr indent="0" lvl="0" marL="0" rtl="0" algn="l">
                        <a:spcBef>
                          <a:spcPts val="0"/>
                        </a:spcBef>
                        <a:spcAft>
                          <a:spcPts val="0"/>
                        </a:spcAft>
                        <a:buNone/>
                      </a:pPr>
                      <a:r>
                        <a:rPr lang="it"/>
                        <a:t>Contro: memoria limitata</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g212205bfbf8_0_5"/>
          <p:cNvPicPr preferRelativeResize="0"/>
          <p:nvPr/>
        </p:nvPicPr>
        <p:blipFill>
          <a:blip r:embed="rId3">
            <a:alphaModFix/>
          </a:blip>
          <a:stretch>
            <a:fillRect/>
          </a:stretch>
        </p:blipFill>
        <p:spPr>
          <a:xfrm>
            <a:off x="858488" y="152400"/>
            <a:ext cx="7427019" cy="48386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212205bfbf8_0_17"/>
          <p:cNvPicPr preferRelativeResize="0"/>
          <p:nvPr/>
        </p:nvPicPr>
        <p:blipFill>
          <a:blip r:embed="rId3">
            <a:alphaModFix/>
          </a:blip>
          <a:stretch>
            <a:fillRect/>
          </a:stretch>
        </p:blipFill>
        <p:spPr>
          <a:xfrm>
            <a:off x="158550" y="317250"/>
            <a:ext cx="5045449" cy="4509000"/>
          </a:xfrm>
          <a:prstGeom prst="rect">
            <a:avLst/>
          </a:prstGeom>
          <a:noFill/>
          <a:ln>
            <a:noFill/>
          </a:ln>
        </p:spPr>
      </p:pic>
      <p:sp>
        <p:nvSpPr>
          <p:cNvPr id="154" name="Google Shape;154;g212205bfbf8_0_17"/>
          <p:cNvSpPr txBox="1"/>
          <p:nvPr/>
        </p:nvSpPr>
        <p:spPr>
          <a:xfrm>
            <a:off x="5358150" y="970950"/>
            <a:ext cx="35514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Open Sans"/>
                <a:ea typeface="Open Sans"/>
                <a:cs typeface="Open Sans"/>
                <a:sym typeface="Open Sans"/>
              </a:rPr>
              <a:t>Costo di entrambe le funzioni: </a:t>
            </a:r>
            <a:r>
              <a:rPr b="1" lang="it">
                <a:latin typeface="Open Sans"/>
                <a:ea typeface="Open Sans"/>
                <a:cs typeface="Open Sans"/>
                <a:sym typeface="Open Sans"/>
              </a:rPr>
              <a:t>O(1)</a:t>
            </a:r>
            <a:endParaRPr b="1">
              <a:latin typeface="Open Sans"/>
              <a:ea typeface="Open Sans"/>
              <a:cs typeface="Open Sans"/>
              <a:sym typeface="Open Sans"/>
            </a:endParaRPr>
          </a:p>
          <a:p>
            <a:pPr indent="0" lvl="0" marL="0" rtl="0" algn="l">
              <a:spcBef>
                <a:spcPts val="0"/>
              </a:spcBef>
              <a:spcAft>
                <a:spcPts val="0"/>
              </a:spcAft>
              <a:buNone/>
            </a:pPr>
            <a:r>
              <a:t/>
            </a:r>
            <a:endParaRPr b="1">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Q.size è il numero di elementi in Q</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i="1" lang="it">
                <a:latin typeface="Open Sans"/>
                <a:ea typeface="Open Sans"/>
                <a:cs typeface="Open Sans"/>
                <a:sym typeface="Open Sans"/>
              </a:rPr>
              <a:t>tail</a:t>
            </a:r>
            <a:r>
              <a:rPr lang="it">
                <a:latin typeface="Open Sans"/>
                <a:ea typeface="Open Sans"/>
                <a:cs typeface="Open Sans"/>
                <a:sym typeface="Open Sans"/>
              </a:rPr>
              <a:t> (coda) punta alla prima posizione libera</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it">
                <a:latin typeface="Open Sans"/>
                <a:ea typeface="Open Sans"/>
                <a:cs typeface="Open Sans"/>
                <a:sym typeface="Open Sans"/>
              </a:rPr>
              <a:t>L’operazione matematica </a:t>
            </a:r>
            <a:r>
              <a:rPr b="1" lang="it">
                <a:latin typeface="Open Sans"/>
                <a:ea typeface="Open Sans"/>
                <a:cs typeface="Open Sans"/>
                <a:sym typeface="Open Sans"/>
              </a:rPr>
              <a:t>modulo</a:t>
            </a:r>
            <a:r>
              <a:rPr lang="it">
                <a:latin typeface="Open Sans"/>
                <a:ea typeface="Open Sans"/>
                <a:cs typeface="Open Sans"/>
                <a:sym typeface="Open Sans"/>
              </a:rPr>
              <a:t> ci permette di scansionare circolarmente l’array</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b="1" lang="it">
                <a:latin typeface="Open Sans"/>
                <a:ea typeface="Open Sans"/>
                <a:cs typeface="Open Sans"/>
                <a:sym typeface="Open Sans"/>
              </a:rPr>
              <a:t>Come si potrebbe implementare la struttura dati Queue utilizzando un array circolare </a:t>
            </a:r>
            <a:r>
              <a:rPr b="1" lang="it" u="sng">
                <a:latin typeface="Open Sans"/>
                <a:ea typeface="Open Sans"/>
                <a:cs typeface="Open Sans"/>
                <a:sym typeface="Open Sans"/>
              </a:rPr>
              <a:t>dinamico</a:t>
            </a:r>
            <a:r>
              <a:rPr b="1" lang="it">
                <a:latin typeface="Open Sans"/>
                <a:ea typeface="Open Sans"/>
                <a:cs typeface="Open Sans"/>
                <a:sym typeface="Open Sans"/>
              </a:rPr>
              <a:t>?</a:t>
            </a:r>
            <a:endParaRPr b="1">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12205bfbf8_1_5"/>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it"/>
              <a:t>Esercizi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12205bfbf8_1_9"/>
          <p:cNvSpPr txBox="1"/>
          <p:nvPr>
            <p:ph type="title"/>
          </p:nvPr>
        </p:nvSpPr>
        <p:spPr>
          <a:xfrm>
            <a:off x="773700" y="1806450"/>
            <a:ext cx="7596600" cy="1530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it"/>
              <a:t>Esercizio 1</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lang="it" sz="2200">
                <a:latin typeface="Open Sans"/>
                <a:ea typeface="Open Sans"/>
                <a:cs typeface="Open Sans"/>
                <a:sym typeface="Open Sans"/>
              </a:rPr>
              <a:t>Scrivere un algoritmo che, dato in input una Singly Linked List di interi e un intero x, restituisca il numero di nodi contenenti il valore x.</a:t>
            </a:r>
            <a:endParaRPr sz="2200">
              <a:latin typeface="Open Sans"/>
              <a:ea typeface="Open Sans"/>
              <a:cs typeface="Open Sans"/>
              <a:sym typeface="Open Sans"/>
            </a:endParaRPr>
          </a:p>
          <a:p>
            <a:pPr indent="0" lvl="0" marL="0" rtl="0" algn="ctr">
              <a:spcBef>
                <a:spcPts val="0"/>
              </a:spcBef>
              <a:spcAft>
                <a:spcPts val="0"/>
              </a:spcAft>
              <a:buNone/>
            </a:pPr>
            <a:r>
              <a:t/>
            </a:r>
            <a:endParaRPr sz="2200">
              <a:latin typeface="Open Sans"/>
              <a:ea typeface="Open Sans"/>
              <a:cs typeface="Open Sans"/>
              <a:sym typeface="Open Sans"/>
            </a:endParaRPr>
          </a:p>
          <a:p>
            <a:pPr indent="0" lvl="0" marL="0" rtl="0" algn="ctr">
              <a:spcBef>
                <a:spcPts val="0"/>
              </a:spcBef>
              <a:spcAft>
                <a:spcPts val="0"/>
              </a:spcAft>
              <a:buNone/>
            </a:pPr>
            <a:r>
              <a:rPr lang="it" sz="2200">
                <a:latin typeface="Open Sans"/>
                <a:ea typeface="Open Sans"/>
                <a:cs typeface="Open Sans"/>
                <a:sym typeface="Open Sans"/>
              </a:rPr>
              <a:t>Ipotizzare, poi, il costo computazionale dell’algoritmo.</a:t>
            </a:r>
            <a:endParaRPr sz="2200">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12205bfbf8_1_44"/>
          <p:cNvSpPr txBox="1"/>
          <p:nvPr>
            <p:ph type="title"/>
          </p:nvPr>
        </p:nvSpPr>
        <p:spPr>
          <a:xfrm>
            <a:off x="773700" y="634925"/>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it"/>
              <a:t>Esercizio 1 - soluzione</a:t>
            </a:r>
            <a:endParaRPr sz="2200">
              <a:latin typeface="Open Sans"/>
              <a:ea typeface="Open Sans"/>
              <a:cs typeface="Open Sans"/>
              <a:sym typeface="Open Sans"/>
            </a:endParaRPr>
          </a:p>
        </p:txBody>
      </p:sp>
      <p:pic>
        <p:nvPicPr>
          <p:cNvPr id="170" name="Google Shape;170;g212205bfbf8_1_44"/>
          <p:cNvPicPr preferRelativeResize="0"/>
          <p:nvPr/>
        </p:nvPicPr>
        <p:blipFill>
          <a:blip r:embed="rId3">
            <a:alphaModFix/>
          </a:blip>
          <a:stretch>
            <a:fillRect/>
          </a:stretch>
        </p:blipFill>
        <p:spPr>
          <a:xfrm>
            <a:off x="2335000" y="1818500"/>
            <a:ext cx="4473998" cy="26731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12205bfbf8_1_1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it" sz="3750"/>
              <a:t>Esercizio 2</a:t>
            </a:r>
            <a:endParaRPr b="1" sz="3750"/>
          </a:p>
          <a:p>
            <a:pPr indent="0" lvl="0" marL="0" rtl="0" algn="ctr">
              <a:spcBef>
                <a:spcPts val="0"/>
              </a:spcBef>
              <a:spcAft>
                <a:spcPts val="0"/>
              </a:spcAft>
              <a:buSzPts val="990"/>
              <a:buNone/>
            </a:pPr>
            <a:r>
              <a:t/>
            </a:r>
            <a:endParaRPr b="1" sz="3750"/>
          </a:p>
          <a:p>
            <a:pPr indent="0" lvl="0" marL="0" rtl="0" algn="ctr">
              <a:spcBef>
                <a:spcPts val="0"/>
              </a:spcBef>
              <a:spcAft>
                <a:spcPts val="0"/>
              </a:spcAft>
              <a:buSzPts val="990"/>
              <a:buNone/>
            </a:pPr>
            <a:r>
              <a:rPr lang="it" sz="2000">
                <a:latin typeface="Open Sans"/>
                <a:ea typeface="Open Sans"/>
                <a:cs typeface="Open Sans"/>
                <a:sym typeface="Open Sans"/>
              </a:rPr>
              <a:t>Scrivere un algoritmo che, dato in input una Singly Linked List </a:t>
            </a:r>
            <a:r>
              <a:rPr b="1" lang="it" sz="2000">
                <a:latin typeface="Open Sans"/>
                <a:ea typeface="Open Sans"/>
                <a:cs typeface="Open Sans"/>
                <a:sym typeface="Open Sans"/>
              </a:rPr>
              <a:t>L,</a:t>
            </a:r>
            <a:r>
              <a:rPr lang="it" sz="2000">
                <a:latin typeface="Open Sans"/>
                <a:ea typeface="Open Sans"/>
                <a:cs typeface="Open Sans"/>
                <a:sym typeface="Open Sans"/>
              </a:rPr>
              <a:t> inverta la lista </a:t>
            </a:r>
            <a:r>
              <a:rPr b="1" lang="it" sz="2000">
                <a:latin typeface="Open Sans"/>
                <a:ea typeface="Open Sans"/>
                <a:cs typeface="Open Sans"/>
                <a:sym typeface="Open Sans"/>
              </a:rPr>
              <a:t>L</a:t>
            </a:r>
            <a:r>
              <a:rPr lang="it" sz="2000">
                <a:latin typeface="Open Sans"/>
                <a:ea typeface="Open Sans"/>
                <a:cs typeface="Open Sans"/>
                <a:sym typeface="Open Sans"/>
              </a:rPr>
              <a:t> e restituisca il puntatore alla nuova testa della lista</a:t>
            </a:r>
            <a:r>
              <a:rPr lang="it" sz="2000">
                <a:latin typeface="Open Sans"/>
                <a:ea typeface="Open Sans"/>
                <a:cs typeface="Open Sans"/>
                <a:sym typeface="Open Sans"/>
              </a:rPr>
              <a:t>.</a:t>
            </a:r>
            <a:endParaRPr sz="2000">
              <a:latin typeface="Open Sans"/>
              <a:ea typeface="Open Sans"/>
              <a:cs typeface="Open Sans"/>
              <a:sym typeface="Open Sans"/>
            </a:endParaRPr>
          </a:p>
          <a:p>
            <a:pPr indent="0" lvl="0" marL="0" rtl="0" algn="ctr">
              <a:spcBef>
                <a:spcPts val="0"/>
              </a:spcBef>
              <a:spcAft>
                <a:spcPts val="0"/>
              </a:spcAft>
              <a:buSzPts val="990"/>
              <a:buNone/>
            </a:pPr>
            <a:r>
              <a:rPr lang="it" sz="2000">
                <a:latin typeface="Open Sans"/>
                <a:ea typeface="Open Sans"/>
                <a:cs typeface="Open Sans"/>
                <a:sym typeface="Open Sans"/>
              </a:rPr>
              <a:t>Esempio:</a:t>
            </a:r>
            <a:endParaRPr sz="2000">
              <a:latin typeface="Open Sans"/>
              <a:ea typeface="Open Sans"/>
              <a:cs typeface="Open Sans"/>
              <a:sym typeface="Open Sans"/>
            </a:endParaRPr>
          </a:p>
          <a:p>
            <a:pPr indent="0" lvl="0" marL="0" rtl="0" algn="ctr">
              <a:spcBef>
                <a:spcPts val="0"/>
              </a:spcBef>
              <a:spcAft>
                <a:spcPts val="0"/>
              </a:spcAft>
              <a:buSzPts val="990"/>
              <a:buNone/>
            </a:pPr>
            <a:r>
              <a:rPr lang="it" sz="2000">
                <a:latin typeface="Open Sans"/>
                <a:ea typeface="Open Sans"/>
                <a:cs typeface="Open Sans"/>
                <a:sym typeface="Open Sans"/>
              </a:rPr>
              <a:t>L = 1 → 2 → 3 → 4 </a:t>
            </a:r>
            <a:endParaRPr sz="2000">
              <a:latin typeface="Open Sans"/>
              <a:ea typeface="Open Sans"/>
              <a:cs typeface="Open Sans"/>
              <a:sym typeface="Open Sans"/>
            </a:endParaRPr>
          </a:p>
          <a:p>
            <a:pPr indent="0" lvl="0" marL="0" rtl="0" algn="ctr">
              <a:spcBef>
                <a:spcPts val="0"/>
              </a:spcBef>
              <a:spcAft>
                <a:spcPts val="0"/>
              </a:spcAft>
              <a:buSzPts val="990"/>
              <a:buNone/>
            </a:pPr>
            <a:r>
              <a:rPr lang="it" sz="2000">
                <a:latin typeface="Open Sans"/>
                <a:ea typeface="Open Sans"/>
                <a:cs typeface="Open Sans"/>
                <a:sym typeface="Open Sans"/>
              </a:rPr>
              <a:t>Lreverse = 4 → 3 → 2 → 1</a:t>
            </a:r>
            <a:endParaRPr sz="2000">
              <a:latin typeface="Open Sans"/>
              <a:ea typeface="Open Sans"/>
              <a:cs typeface="Open Sans"/>
              <a:sym typeface="Open Sans"/>
            </a:endParaRPr>
          </a:p>
          <a:p>
            <a:pPr indent="0" lvl="0" marL="0" rtl="0" algn="ctr">
              <a:spcBef>
                <a:spcPts val="0"/>
              </a:spcBef>
              <a:spcAft>
                <a:spcPts val="0"/>
              </a:spcAft>
              <a:buSzPts val="990"/>
              <a:buNone/>
            </a:pPr>
            <a:r>
              <a:t/>
            </a:r>
            <a:endParaRPr sz="2000">
              <a:latin typeface="Open Sans"/>
              <a:ea typeface="Open Sans"/>
              <a:cs typeface="Open Sans"/>
              <a:sym typeface="Open Sans"/>
            </a:endParaRPr>
          </a:p>
          <a:p>
            <a:pPr indent="0" lvl="0" marL="0" rtl="0" algn="ctr">
              <a:spcBef>
                <a:spcPts val="0"/>
              </a:spcBef>
              <a:spcAft>
                <a:spcPts val="0"/>
              </a:spcAft>
              <a:buSzPts val="990"/>
              <a:buNone/>
            </a:pPr>
            <a:r>
              <a:rPr lang="it" sz="2000">
                <a:latin typeface="Open Sans"/>
                <a:ea typeface="Open Sans"/>
                <a:cs typeface="Open Sans"/>
                <a:sym typeface="Open Sans"/>
              </a:rPr>
              <a:t>Ipotizzare, poi, il costo computazionale dell’algoritmo</a:t>
            </a:r>
            <a:r>
              <a:rPr lang="it" sz="2400"/>
              <a:t>.</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212205bfbf8_1_39"/>
          <p:cNvSpPr txBox="1"/>
          <p:nvPr>
            <p:ph type="title"/>
          </p:nvPr>
        </p:nvSpPr>
        <p:spPr>
          <a:xfrm>
            <a:off x="773700" y="647275"/>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it" sz="3750"/>
              <a:t>Esercizio 2 - soluzione</a:t>
            </a:r>
            <a:endParaRPr b="1" sz="3750"/>
          </a:p>
          <a:p>
            <a:pPr indent="0" lvl="0" marL="0" rtl="0" algn="ctr">
              <a:spcBef>
                <a:spcPts val="0"/>
              </a:spcBef>
              <a:spcAft>
                <a:spcPts val="0"/>
              </a:spcAft>
              <a:buSzPts val="990"/>
              <a:buNone/>
            </a:pPr>
            <a:r>
              <a:t/>
            </a:r>
            <a:endParaRPr sz="2400"/>
          </a:p>
        </p:txBody>
      </p:sp>
      <p:pic>
        <p:nvPicPr>
          <p:cNvPr id="181" name="Google Shape;181;g212205bfbf8_1_39"/>
          <p:cNvPicPr preferRelativeResize="0"/>
          <p:nvPr/>
        </p:nvPicPr>
        <p:blipFill>
          <a:blip r:embed="rId3">
            <a:alphaModFix/>
          </a:blip>
          <a:stretch>
            <a:fillRect/>
          </a:stretch>
        </p:blipFill>
        <p:spPr>
          <a:xfrm>
            <a:off x="2515475" y="1898947"/>
            <a:ext cx="4254149" cy="2404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12205bfbf8_1_21"/>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it" sz="3750"/>
              <a:t>Esercizio 3</a:t>
            </a:r>
            <a:endParaRPr b="1" sz="3750"/>
          </a:p>
          <a:p>
            <a:pPr indent="0" lvl="0" marL="0" rtl="0" algn="ctr">
              <a:spcBef>
                <a:spcPts val="0"/>
              </a:spcBef>
              <a:spcAft>
                <a:spcPts val="0"/>
              </a:spcAft>
              <a:buSzPts val="990"/>
              <a:buNone/>
            </a:pPr>
            <a:r>
              <a:t/>
            </a:r>
            <a:endParaRPr b="1" sz="3750"/>
          </a:p>
          <a:p>
            <a:pPr indent="0" lvl="0" marL="0" rtl="0" algn="ctr">
              <a:spcBef>
                <a:spcPts val="0"/>
              </a:spcBef>
              <a:spcAft>
                <a:spcPts val="0"/>
              </a:spcAft>
              <a:buSzPts val="990"/>
              <a:buNone/>
            </a:pPr>
            <a:r>
              <a:rPr lang="it" sz="1800">
                <a:latin typeface="Open Sans"/>
                <a:ea typeface="Open Sans"/>
                <a:cs typeface="Open Sans"/>
                <a:sym typeface="Open Sans"/>
              </a:rPr>
              <a:t>Si consideri la seguente sequenza di caratteri</a:t>
            </a:r>
            <a:endParaRPr sz="1800">
              <a:latin typeface="Open Sans"/>
              <a:ea typeface="Open Sans"/>
              <a:cs typeface="Open Sans"/>
              <a:sym typeface="Open Sans"/>
            </a:endParaRPr>
          </a:p>
          <a:p>
            <a:pPr indent="0" lvl="0" marL="0" rtl="0" algn="ctr">
              <a:spcBef>
                <a:spcPts val="0"/>
              </a:spcBef>
              <a:spcAft>
                <a:spcPts val="0"/>
              </a:spcAft>
              <a:buSzPts val="990"/>
              <a:buNone/>
            </a:pPr>
            <a:r>
              <a:rPr lang="it" sz="1800">
                <a:latin typeface="Open Sans"/>
                <a:ea typeface="Open Sans"/>
                <a:cs typeface="Open Sans"/>
                <a:sym typeface="Open Sans"/>
              </a:rPr>
              <a:t>E A S * Y * Q U E * * * S T * * * I O * N * * *</a:t>
            </a:r>
            <a:endParaRPr sz="1800">
              <a:latin typeface="Open Sans"/>
              <a:ea typeface="Open Sans"/>
              <a:cs typeface="Open Sans"/>
              <a:sym typeface="Open Sans"/>
            </a:endParaRPr>
          </a:p>
          <a:p>
            <a:pPr indent="0" lvl="0" marL="0" rtl="0" algn="ctr">
              <a:spcBef>
                <a:spcPts val="0"/>
              </a:spcBef>
              <a:spcAft>
                <a:spcPts val="0"/>
              </a:spcAft>
              <a:buSzPts val="990"/>
              <a:buNone/>
            </a:pPr>
            <a:r>
              <a:t/>
            </a:r>
            <a:endParaRPr sz="1800">
              <a:latin typeface="Open Sans"/>
              <a:ea typeface="Open Sans"/>
              <a:cs typeface="Open Sans"/>
              <a:sym typeface="Open Sans"/>
            </a:endParaRPr>
          </a:p>
          <a:p>
            <a:pPr indent="0" lvl="0" marL="0" rtl="0" algn="ctr">
              <a:spcBef>
                <a:spcPts val="0"/>
              </a:spcBef>
              <a:spcAft>
                <a:spcPts val="0"/>
              </a:spcAft>
              <a:buSzPts val="990"/>
              <a:buNone/>
            </a:pPr>
            <a:r>
              <a:rPr lang="it" sz="1800">
                <a:latin typeface="Open Sans"/>
                <a:ea typeface="Open Sans"/>
                <a:cs typeface="Open Sans"/>
                <a:sym typeface="Open Sans"/>
              </a:rPr>
              <a:t>A partire da una stack S </a:t>
            </a:r>
            <a:r>
              <a:rPr b="1" lang="it" sz="1800">
                <a:latin typeface="Open Sans"/>
                <a:ea typeface="Open Sans"/>
                <a:cs typeface="Open Sans"/>
                <a:sym typeface="Open Sans"/>
              </a:rPr>
              <a:t>vuota</a:t>
            </a:r>
            <a:r>
              <a:rPr lang="it" sz="1800">
                <a:latin typeface="Open Sans"/>
                <a:ea typeface="Open Sans"/>
                <a:cs typeface="Open Sans"/>
                <a:sym typeface="Open Sans"/>
              </a:rPr>
              <a:t>, un carattere </a:t>
            </a:r>
            <a:r>
              <a:rPr b="1" lang="it" sz="1800">
                <a:latin typeface="Open Sans"/>
                <a:ea typeface="Open Sans"/>
                <a:cs typeface="Open Sans"/>
                <a:sym typeface="Open Sans"/>
              </a:rPr>
              <a:t>c </a:t>
            </a:r>
            <a:r>
              <a:rPr lang="it" sz="1800">
                <a:latin typeface="Open Sans"/>
                <a:ea typeface="Open Sans"/>
                <a:cs typeface="Open Sans"/>
                <a:sym typeface="Open Sans"/>
              </a:rPr>
              <a:t>significa un’operazione di push(S,c) e un asterisco significa un’operazione di pop(S). Mostrare a video la sequenza di caratteri restituita dalle operazioni di </a:t>
            </a:r>
            <a:r>
              <a:rPr b="1" lang="it" sz="1800">
                <a:latin typeface="Open Sans"/>
                <a:ea typeface="Open Sans"/>
                <a:cs typeface="Open Sans"/>
                <a:sym typeface="Open Sans"/>
              </a:rPr>
              <a:t>pop.</a:t>
            </a:r>
            <a:endParaRPr b="1" sz="1800">
              <a:latin typeface="Open Sans"/>
              <a:ea typeface="Open Sans"/>
              <a:cs typeface="Open Sans"/>
              <a:sym typeface="Open Sans"/>
            </a:endParaRPr>
          </a:p>
          <a:p>
            <a:pPr indent="0" lvl="0" marL="0" rtl="0" algn="ctr">
              <a:spcBef>
                <a:spcPts val="0"/>
              </a:spcBef>
              <a:spcAft>
                <a:spcPts val="0"/>
              </a:spcAft>
              <a:buSzPts val="990"/>
              <a:buNone/>
            </a:pPr>
            <a:r>
              <a:t/>
            </a:r>
            <a:endParaRPr b="1" sz="1800">
              <a:latin typeface="Open Sans"/>
              <a:ea typeface="Open Sans"/>
              <a:cs typeface="Open Sans"/>
              <a:sym typeface="Open Sans"/>
            </a:endParaRPr>
          </a:p>
          <a:p>
            <a:pPr indent="0" lvl="0" marL="0" rtl="0" algn="ctr">
              <a:spcBef>
                <a:spcPts val="0"/>
              </a:spcBef>
              <a:spcAft>
                <a:spcPts val="0"/>
              </a:spcAft>
              <a:buClr>
                <a:schemeClr val="dk1"/>
              </a:buClr>
              <a:buSzPts val="990"/>
              <a:buFont typeface="Arial"/>
              <a:buNone/>
            </a:pPr>
            <a:r>
              <a:rPr lang="it" sz="1800">
                <a:latin typeface="Open Sans"/>
                <a:ea typeface="Open Sans"/>
                <a:cs typeface="Open Sans"/>
                <a:sym typeface="Open Sans"/>
              </a:rPr>
              <a:t>A partire da una queue Q </a:t>
            </a:r>
            <a:r>
              <a:rPr b="1" lang="it" sz="1800">
                <a:latin typeface="Open Sans"/>
                <a:ea typeface="Open Sans"/>
                <a:cs typeface="Open Sans"/>
                <a:sym typeface="Open Sans"/>
              </a:rPr>
              <a:t>vuota</a:t>
            </a:r>
            <a:r>
              <a:rPr lang="it" sz="1800">
                <a:latin typeface="Open Sans"/>
                <a:ea typeface="Open Sans"/>
                <a:cs typeface="Open Sans"/>
                <a:sym typeface="Open Sans"/>
              </a:rPr>
              <a:t>, un carattere </a:t>
            </a:r>
            <a:r>
              <a:rPr b="1" lang="it" sz="1800">
                <a:latin typeface="Open Sans"/>
                <a:ea typeface="Open Sans"/>
                <a:cs typeface="Open Sans"/>
                <a:sym typeface="Open Sans"/>
              </a:rPr>
              <a:t>c </a:t>
            </a:r>
            <a:r>
              <a:rPr lang="it" sz="1800">
                <a:latin typeface="Open Sans"/>
                <a:ea typeface="Open Sans"/>
                <a:cs typeface="Open Sans"/>
                <a:sym typeface="Open Sans"/>
              </a:rPr>
              <a:t>significa un’operazione di enqueue(Q,c) e un asterisco significa un’operazione di dequeue(Q). Mostrare a video la sequenza di caratteri restituita dalle operazioni di </a:t>
            </a:r>
            <a:r>
              <a:rPr b="1" lang="it" sz="1800">
                <a:latin typeface="Open Sans"/>
                <a:ea typeface="Open Sans"/>
                <a:cs typeface="Open Sans"/>
                <a:sym typeface="Open Sans"/>
              </a:rPr>
              <a:t>dequeue.</a:t>
            </a:r>
            <a:endParaRPr b="1" sz="1800">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212205bfbf8_1_29"/>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it" sz="3750"/>
              <a:t>Esercizio 4</a:t>
            </a:r>
            <a:endParaRPr b="1" sz="3750"/>
          </a:p>
          <a:p>
            <a:pPr indent="0" lvl="0" marL="0" rtl="0" algn="ctr">
              <a:spcBef>
                <a:spcPts val="0"/>
              </a:spcBef>
              <a:spcAft>
                <a:spcPts val="0"/>
              </a:spcAft>
              <a:buSzPts val="990"/>
              <a:buNone/>
            </a:pPr>
            <a:r>
              <a:t/>
            </a:r>
            <a:endParaRPr b="1" sz="3750"/>
          </a:p>
          <a:p>
            <a:pPr indent="0" lvl="0" marL="0" rtl="0" algn="ctr">
              <a:spcBef>
                <a:spcPts val="0"/>
              </a:spcBef>
              <a:spcAft>
                <a:spcPts val="0"/>
              </a:spcAft>
              <a:buSzPts val="990"/>
              <a:buNone/>
            </a:pPr>
            <a:r>
              <a:rPr lang="it" sz="1700">
                <a:latin typeface="Open Sans"/>
                <a:ea typeface="Open Sans"/>
                <a:cs typeface="Open Sans"/>
                <a:sym typeface="Open Sans"/>
              </a:rPr>
              <a:t>Si consideri una Stack S che supporta le seguenti operazioni con costo computazionale O(1)</a:t>
            </a:r>
            <a:endParaRPr sz="1700">
              <a:latin typeface="Open Sans"/>
              <a:ea typeface="Open Sans"/>
              <a:cs typeface="Open Sans"/>
              <a:sym typeface="Open Sans"/>
            </a:endParaRPr>
          </a:p>
          <a:p>
            <a:pPr indent="-336550" lvl="0" marL="457200" rtl="0" algn="ctr">
              <a:spcBef>
                <a:spcPts val="0"/>
              </a:spcBef>
              <a:spcAft>
                <a:spcPts val="0"/>
              </a:spcAft>
              <a:buSzPts val="1700"/>
              <a:buFont typeface="Open Sans"/>
              <a:buChar char="●"/>
            </a:pPr>
            <a:r>
              <a:rPr lang="it" sz="1700">
                <a:latin typeface="Open Sans"/>
                <a:ea typeface="Open Sans"/>
                <a:cs typeface="Open Sans"/>
                <a:sym typeface="Open Sans"/>
              </a:rPr>
              <a:t>PEEK(s), che restituisce il valore in cima ad S (senza rimuoverlo)</a:t>
            </a:r>
            <a:endParaRPr sz="1700">
              <a:latin typeface="Open Sans"/>
              <a:ea typeface="Open Sans"/>
              <a:cs typeface="Open Sans"/>
              <a:sym typeface="Open Sans"/>
            </a:endParaRPr>
          </a:p>
          <a:p>
            <a:pPr indent="-336550" lvl="0" marL="457200" rtl="0" algn="ctr">
              <a:spcBef>
                <a:spcPts val="0"/>
              </a:spcBef>
              <a:spcAft>
                <a:spcPts val="0"/>
              </a:spcAft>
              <a:buSzPts val="1700"/>
              <a:buChar char="●"/>
            </a:pPr>
            <a:r>
              <a:rPr lang="it" sz="1700">
                <a:latin typeface="Open Sans"/>
                <a:ea typeface="Open Sans"/>
                <a:cs typeface="Open Sans"/>
                <a:sym typeface="Open Sans"/>
              </a:rPr>
              <a:t>ISEMPTY(S) vero se S è </a:t>
            </a:r>
            <a:r>
              <a:rPr b="1" lang="it" sz="1700">
                <a:latin typeface="Open Sans"/>
                <a:ea typeface="Open Sans"/>
                <a:cs typeface="Open Sans"/>
                <a:sym typeface="Open Sans"/>
              </a:rPr>
              <a:t>vuota</a:t>
            </a:r>
            <a:r>
              <a:rPr lang="it" sz="1700">
                <a:latin typeface="Open Sans"/>
                <a:ea typeface="Open Sans"/>
                <a:cs typeface="Open Sans"/>
                <a:sym typeface="Open Sans"/>
              </a:rPr>
              <a:t>, falso altrimenti</a:t>
            </a:r>
            <a:endParaRPr sz="1700">
              <a:latin typeface="Open Sans"/>
              <a:ea typeface="Open Sans"/>
              <a:cs typeface="Open Sans"/>
              <a:sym typeface="Open Sans"/>
            </a:endParaRPr>
          </a:p>
          <a:p>
            <a:pPr indent="-336550" lvl="0" marL="457200" rtl="0" algn="ctr">
              <a:spcBef>
                <a:spcPts val="0"/>
              </a:spcBef>
              <a:spcAft>
                <a:spcPts val="0"/>
              </a:spcAft>
              <a:buSzPts val="1700"/>
              <a:buFont typeface="Open Sans"/>
              <a:buChar char="●"/>
            </a:pPr>
            <a:r>
              <a:rPr lang="it" sz="1700">
                <a:latin typeface="Open Sans"/>
                <a:ea typeface="Open Sans"/>
                <a:cs typeface="Open Sans"/>
                <a:sym typeface="Open Sans"/>
              </a:rPr>
              <a:t>PUSH (S, x), che inserisce x in cima alla Stack S</a:t>
            </a:r>
            <a:endParaRPr sz="1700">
              <a:latin typeface="Open Sans"/>
              <a:ea typeface="Open Sans"/>
              <a:cs typeface="Open Sans"/>
              <a:sym typeface="Open Sans"/>
            </a:endParaRPr>
          </a:p>
          <a:p>
            <a:pPr indent="-336550" lvl="0" marL="457200" rtl="0" algn="ctr">
              <a:spcBef>
                <a:spcPts val="0"/>
              </a:spcBef>
              <a:spcAft>
                <a:spcPts val="0"/>
              </a:spcAft>
              <a:buSzPts val="1700"/>
              <a:buFont typeface="Open Sans"/>
              <a:buChar char="●"/>
            </a:pPr>
            <a:r>
              <a:rPr lang="it" sz="1700">
                <a:latin typeface="Open Sans"/>
                <a:ea typeface="Open Sans"/>
                <a:cs typeface="Open Sans"/>
                <a:sym typeface="Open Sans"/>
              </a:rPr>
              <a:t>POP (S) che rimuove e restituisce il valore in cima di S, sollevando un’eccezione se S1 è vuota</a:t>
            </a:r>
            <a:endParaRPr sz="1700">
              <a:latin typeface="Open Sans"/>
              <a:ea typeface="Open Sans"/>
              <a:cs typeface="Open Sans"/>
              <a:sym typeface="Open Sans"/>
            </a:endParaRPr>
          </a:p>
          <a:p>
            <a:pPr indent="0" lvl="0" marL="0" rtl="0" algn="l">
              <a:spcBef>
                <a:spcPts val="0"/>
              </a:spcBef>
              <a:spcAft>
                <a:spcPts val="0"/>
              </a:spcAft>
              <a:buNone/>
            </a:pPr>
            <a:r>
              <a:t/>
            </a:r>
            <a:endParaRPr sz="1700">
              <a:latin typeface="Open Sans"/>
              <a:ea typeface="Open Sans"/>
              <a:cs typeface="Open Sans"/>
              <a:sym typeface="Open Sans"/>
            </a:endParaRPr>
          </a:p>
          <a:p>
            <a:pPr indent="0" lvl="0" marL="0" rtl="0" algn="l">
              <a:spcBef>
                <a:spcPts val="0"/>
              </a:spcBef>
              <a:spcAft>
                <a:spcPts val="0"/>
              </a:spcAft>
              <a:buNone/>
            </a:pPr>
            <a:r>
              <a:rPr lang="it" sz="1700">
                <a:latin typeface="Open Sans"/>
                <a:ea typeface="Open Sans"/>
                <a:cs typeface="Open Sans"/>
                <a:sym typeface="Open Sans"/>
              </a:rPr>
              <a:t>Scrivere un algoritmo che tenga traccia del valore minimo presente nella stack S1, utilizzando una seconda stack S2 che contenga, di volta in volta, come elemento in cima il minimo elemento di S1</a:t>
            </a:r>
            <a:endParaRPr sz="1700">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12205bfbf8_1_34"/>
          <p:cNvSpPr txBox="1"/>
          <p:nvPr>
            <p:ph type="title"/>
          </p:nvPr>
        </p:nvSpPr>
        <p:spPr>
          <a:xfrm>
            <a:off x="773700" y="536275"/>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it" sz="3750"/>
              <a:t>Esercizio 4 - soluzione</a:t>
            </a:r>
            <a:endParaRPr sz="1700">
              <a:latin typeface="Open Sans"/>
              <a:ea typeface="Open Sans"/>
              <a:cs typeface="Open Sans"/>
              <a:sym typeface="Open Sans"/>
            </a:endParaRPr>
          </a:p>
        </p:txBody>
      </p:sp>
      <p:pic>
        <p:nvPicPr>
          <p:cNvPr id="197" name="Google Shape;197;g212205bfbf8_1_34"/>
          <p:cNvPicPr preferRelativeResize="0"/>
          <p:nvPr/>
        </p:nvPicPr>
        <p:blipFill>
          <a:blip r:embed="rId3">
            <a:alphaModFix/>
          </a:blip>
          <a:stretch>
            <a:fillRect/>
          </a:stretch>
        </p:blipFill>
        <p:spPr>
          <a:xfrm>
            <a:off x="1334325" y="1904800"/>
            <a:ext cx="6475355" cy="2654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